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Roboto" charset="1" panose="02000000000000000000"/>
      <p:regular r:id="rId16"/>
    </p:embeddedFont>
    <p:embeddedFont>
      <p:font typeface="League Spartan" charset="1" panose="00000800000000000000"/>
      <p:regular r:id="rId17"/>
    </p:embeddedFont>
    <p:embeddedFont>
      <p:font typeface="Poppins Bold" charset="1" panose="00000800000000000000"/>
      <p:regular r:id="rId18"/>
    </p:embeddedFont>
    <p:embeddedFont>
      <p:font typeface="Roboto Bold" charset="1" panose="02000000000000000000"/>
      <p:regular r:id="rId19"/>
    </p:embeddedFont>
    <p:embeddedFont>
      <p:font typeface="Poppins" charset="1" panose="000005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8283129" y="5796134"/>
            <a:ext cx="1721742" cy="1721742"/>
          </a:xfrm>
          <a:custGeom>
            <a:avLst/>
            <a:gdLst/>
            <a:ahLst/>
            <a:cxnLst/>
            <a:rect r="r" b="b" t="t" l="l"/>
            <a:pathLst>
              <a:path h="1721742" w="1721742">
                <a:moveTo>
                  <a:pt x="0" y="0"/>
                </a:moveTo>
                <a:lnTo>
                  <a:pt x="1721742" y="0"/>
                </a:lnTo>
                <a:lnTo>
                  <a:pt x="1721742" y="1721742"/>
                </a:lnTo>
                <a:lnTo>
                  <a:pt x="0" y="1721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249660" y="9305050"/>
            <a:ext cx="3038340" cy="981950"/>
            <a:chOff x="0" y="0"/>
            <a:chExt cx="4051119" cy="1309267"/>
          </a:xfrm>
        </p:grpSpPr>
        <p:sp>
          <p:nvSpPr>
            <p:cNvPr name="Freeform 4" id="4"/>
            <p:cNvSpPr/>
            <p:nvPr/>
          </p:nvSpPr>
          <p:spPr>
            <a:xfrm flipH="false" flipV="false" rot="0">
              <a:off x="672218" y="0"/>
              <a:ext cx="881370" cy="1275667"/>
            </a:xfrm>
            <a:custGeom>
              <a:avLst/>
              <a:gdLst/>
              <a:ahLst/>
              <a:cxnLst/>
              <a:rect r="r" b="b" t="t" l="l"/>
              <a:pathLst>
                <a:path h="1275667" w="881370">
                  <a:moveTo>
                    <a:pt x="0" y="0"/>
                  </a:moveTo>
                  <a:lnTo>
                    <a:pt x="881370" y="0"/>
                  </a:lnTo>
                  <a:lnTo>
                    <a:pt x="881370" y="1275667"/>
                  </a:lnTo>
                  <a:lnTo>
                    <a:pt x="0" y="12756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621368" y="322502"/>
              <a:ext cx="2429751" cy="986764"/>
            </a:xfrm>
            <a:prstGeom prst="rect">
              <a:avLst/>
            </a:prstGeom>
          </p:spPr>
          <p:txBody>
            <a:bodyPr anchor="t" rtlCol="false" tIns="0" lIns="0" bIns="0" rIns="0">
              <a:spAutoFit/>
            </a:bodyPr>
            <a:lstStyle/>
            <a:p>
              <a:pPr algn="l">
                <a:lnSpc>
                  <a:spcPts val="6170"/>
                </a:lnSpc>
              </a:pPr>
              <a:r>
                <a:rPr lang="en-US" sz="4407">
                  <a:solidFill>
                    <a:srgbClr val="000000"/>
                  </a:solidFill>
                  <a:latin typeface="Roboto"/>
                  <a:ea typeface="Roboto"/>
                  <a:cs typeface="Roboto"/>
                  <a:sym typeface="Roboto"/>
                </a:rPr>
                <a:t>CKNEY</a:t>
              </a:r>
            </a:p>
          </p:txBody>
        </p:sp>
        <p:sp>
          <p:nvSpPr>
            <p:cNvPr name="TextBox 6" id="6"/>
            <p:cNvSpPr txBox="true"/>
            <p:nvPr/>
          </p:nvSpPr>
          <p:spPr>
            <a:xfrm rot="0">
              <a:off x="0" y="322502"/>
              <a:ext cx="604438" cy="986764"/>
            </a:xfrm>
            <a:prstGeom prst="rect">
              <a:avLst/>
            </a:prstGeom>
          </p:spPr>
          <p:txBody>
            <a:bodyPr anchor="t" rtlCol="false" tIns="0" lIns="0" bIns="0" rIns="0">
              <a:spAutoFit/>
            </a:bodyPr>
            <a:lstStyle/>
            <a:p>
              <a:pPr algn="r">
                <a:lnSpc>
                  <a:spcPts val="6170"/>
                </a:lnSpc>
              </a:pPr>
              <a:r>
                <a:rPr lang="en-US" sz="4407">
                  <a:solidFill>
                    <a:srgbClr val="000000"/>
                  </a:solidFill>
                  <a:latin typeface="Roboto"/>
                  <a:ea typeface="Roboto"/>
                  <a:cs typeface="Roboto"/>
                  <a:sym typeface="Roboto"/>
                </a:rPr>
                <a:t>H</a:t>
              </a:r>
            </a:p>
          </p:txBody>
        </p:sp>
      </p:grpSp>
      <p:sp>
        <p:nvSpPr>
          <p:cNvPr name="TextBox 7" id="7"/>
          <p:cNvSpPr txBox="true"/>
          <p:nvPr/>
        </p:nvSpPr>
        <p:spPr>
          <a:xfrm rot="0">
            <a:off x="2003644" y="4328941"/>
            <a:ext cx="14280711" cy="1467193"/>
          </a:xfrm>
          <a:prstGeom prst="rect">
            <a:avLst/>
          </a:prstGeom>
        </p:spPr>
        <p:txBody>
          <a:bodyPr anchor="t" rtlCol="false" tIns="0" lIns="0" bIns="0" rIns="0">
            <a:spAutoFit/>
          </a:bodyPr>
          <a:lstStyle/>
          <a:p>
            <a:pPr algn="ctr">
              <a:lnSpc>
                <a:spcPts val="12056"/>
              </a:lnSpc>
              <a:spcBef>
                <a:spcPct val="0"/>
              </a:spcBef>
            </a:pPr>
            <a:r>
              <a:rPr lang="en-US" b="true" sz="8611">
                <a:solidFill>
                  <a:srgbClr val="000000"/>
                </a:solidFill>
                <a:latin typeface="League Spartan"/>
                <a:ea typeface="League Spartan"/>
                <a:cs typeface="League Spartan"/>
                <a:sym typeface="League Spartan"/>
              </a:rPr>
              <a:t>INCIDENT RESPONSE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0" y="1871021"/>
            <a:ext cx="18288000" cy="5654961"/>
            <a:chOff x="0" y="0"/>
            <a:chExt cx="4816593" cy="1489372"/>
          </a:xfrm>
        </p:grpSpPr>
        <p:sp>
          <p:nvSpPr>
            <p:cNvPr name="Freeform 3" id="3"/>
            <p:cNvSpPr/>
            <p:nvPr/>
          </p:nvSpPr>
          <p:spPr>
            <a:xfrm flipH="false" flipV="false" rot="0">
              <a:off x="0" y="0"/>
              <a:ext cx="4816592" cy="1489372"/>
            </a:xfrm>
            <a:custGeom>
              <a:avLst/>
              <a:gdLst/>
              <a:ahLst/>
              <a:cxnLst/>
              <a:rect r="r" b="b" t="t" l="l"/>
              <a:pathLst>
                <a:path h="1489372" w="4816592">
                  <a:moveTo>
                    <a:pt x="0" y="0"/>
                  </a:moveTo>
                  <a:lnTo>
                    <a:pt x="4816592" y="0"/>
                  </a:lnTo>
                  <a:lnTo>
                    <a:pt x="4816592" y="1489372"/>
                  </a:lnTo>
                  <a:lnTo>
                    <a:pt x="0" y="1489372"/>
                  </a:lnTo>
                  <a:close/>
                </a:path>
              </a:pathLst>
            </a:custGeom>
            <a:gradFill rotWithShape="true">
              <a:gsLst>
                <a:gs pos="0">
                  <a:srgbClr val="A6A6A6">
                    <a:alpha val="100000"/>
                  </a:srgbClr>
                </a:gs>
                <a:gs pos="100000">
                  <a:srgbClr val="FFFFFF">
                    <a:alpha val="100000"/>
                  </a:srgbClr>
                </a:gs>
              </a:gsLst>
              <a:lin ang="0"/>
            </a:gradFill>
          </p:spPr>
        </p:sp>
        <p:sp>
          <p:nvSpPr>
            <p:cNvPr name="TextBox 4" id="4"/>
            <p:cNvSpPr txBox="true"/>
            <p:nvPr/>
          </p:nvSpPr>
          <p:spPr>
            <a:xfrm>
              <a:off x="0" y="-38100"/>
              <a:ext cx="4816593" cy="1527472"/>
            </a:xfrm>
            <a:prstGeom prst="rect">
              <a:avLst/>
            </a:prstGeom>
          </p:spPr>
          <p:txBody>
            <a:bodyPr anchor="ctr" rtlCol="false" tIns="50800" lIns="50800" bIns="50800" rIns="50800"/>
            <a:lstStyle/>
            <a:p>
              <a:pPr algn="ctr">
                <a:lnSpc>
                  <a:spcPts val="2199"/>
                </a:lnSpc>
              </a:pPr>
            </a:p>
          </p:txBody>
        </p:sp>
      </p:grpSp>
      <p:grpSp>
        <p:nvGrpSpPr>
          <p:cNvPr name="Group 5" id="5"/>
          <p:cNvGrpSpPr>
            <a:grpSpLocks noChangeAspect="true"/>
          </p:cNvGrpSpPr>
          <p:nvPr/>
        </p:nvGrpSpPr>
        <p:grpSpPr>
          <a:xfrm rot="0">
            <a:off x="1605686" y="3353011"/>
            <a:ext cx="3016333" cy="3016333"/>
            <a:chOff x="0" y="0"/>
            <a:chExt cx="14840029" cy="14840029"/>
          </a:xfrm>
        </p:grpSpPr>
        <p:sp>
          <p:nvSpPr>
            <p:cNvPr name="Freeform 6" id="6"/>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004AAD"/>
            </a:solidFill>
          </p:spPr>
        </p:sp>
        <p:sp>
          <p:nvSpPr>
            <p:cNvPr name="Freeform 7" id="7"/>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sp>
        <p:sp>
          <p:nvSpPr>
            <p:cNvPr name="Freeform 8" id="8"/>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2"/>
              <a:stretch>
                <a:fillRect l="-19985" t="0" r="-19985" b="0"/>
              </a:stretch>
            </a:blipFill>
          </p:spPr>
        </p:sp>
      </p:grpSp>
      <p:grpSp>
        <p:nvGrpSpPr>
          <p:cNvPr name="Group 9" id="9"/>
          <p:cNvGrpSpPr>
            <a:grpSpLocks noChangeAspect="true"/>
          </p:cNvGrpSpPr>
          <p:nvPr/>
        </p:nvGrpSpPr>
        <p:grpSpPr>
          <a:xfrm rot="0">
            <a:off x="5561361" y="3353011"/>
            <a:ext cx="3016333" cy="3016333"/>
            <a:chOff x="0" y="0"/>
            <a:chExt cx="14840029" cy="14840029"/>
          </a:xfrm>
        </p:grpSpPr>
        <p:sp>
          <p:nvSpPr>
            <p:cNvPr name="Freeform 10" id="10"/>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004AAD"/>
            </a:solidFill>
          </p:spPr>
        </p:sp>
        <p:sp>
          <p:nvSpPr>
            <p:cNvPr name="Freeform 11" id="11"/>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sp>
        <p:sp>
          <p:nvSpPr>
            <p:cNvPr name="Freeform 12" id="12"/>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3"/>
              <a:stretch>
                <a:fillRect l="223" t="-346" r="223" b="-346"/>
              </a:stretch>
            </a:blipFill>
          </p:spPr>
        </p:sp>
      </p:grpSp>
      <p:grpSp>
        <p:nvGrpSpPr>
          <p:cNvPr name="Group 13" id="13"/>
          <p:cNvGrpSpPr>
            <a:grpSpLocks noChangeAspect="true"/>
          </p:cNvGrpSpPr>
          <p:nvPr/>
        </p:nvGrpSpPr>
        <p:grpSpPr>
          <a:xfrm rot="0">
            <a:off x="9517036" y="3353011"/>
            <a:ext cx="3016333" cy="3016333"/>
            <a:chOff x="0" y="0"/>
            <a:chExt cx="14840029" cy="14840029"/>
          </a:xfrm>
        </p:grpSpPr>
        <p:sp>
          <p:nvSpPr>
            <p:cNvPr name="Freeform 14" id="14"/>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004AAD"/>
            </a:solidFill>
          </p:spPr>
        </p:sp>
        <p:sp>
          <p:nvSpPr>
            <p:cNvPr name="Freeform 15" id="15"/>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sp>
        <p:sp>
          <p:nvSpPr>
            <p:cNvPr name="Freeform 16" id="16"/>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4"/>
              <a:stretch>
                <a:fillRect l="-14645" t="0" r="-14645" b="0"/>
              </a:stretch>
            </a:blipFill>
          </p:spPr>
        </p:sp>
      </p:grpSp>
      <p:grpSp>
        <p:nvGrpSpPr>
          <p:cNvPr name="Group 17" id="17"/>
          <p:cNvGrpSpPr>
            <a:grpSpLocks noChangeAspect="true"/>
          </p:cNvGrpSpPr>
          <p:nvPr/>
        </p:nvGrpSpPr>
        <p:grpSpPr>
          <a:xfrm rot="0">
            <a:off x="13472711" y="3353011"/>
            <a:ext cx="3016333" cy="3016333"/>
            <a:chOff x="0" y="0"/>
            <a:chExt cx="14840029" cy="14840029"/>
          </a:xfrm>
        </p:grpSpPr>
        <p:sp>
          <p:nvSpPr>
            <p:cNvPr name="Freeform 18" id="18"/>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004AAD"/>
            </a:solidFill>
          </p:spPr>
        </p:sp>
        <p:sp>
          <p:nvSpPr>
            <p:cNvPr name="Freeform 19" id="19"/>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sp>
        <p:sp>
          <p:nvSpPr>
            <p:cNvPr name="Freeform 20" id="20"/>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5"/>
              <a:stretch>
                <a:fillRect l="223" t="-16665" r="223" b="-16666"/>
              </a:stretch>
            </a:blipFill>
          </p:spPr>
        </p:sp>
      </p:grpSp>
      <p:grpSp>
        <p:nvGrpSpPr>
          <p:cNvPr name="Group 21" id="21"/>
          <p:cNvGrpSpPr/>
          <p:nvPr/>
        </p:nvGrpSpPr>
        <p:grpSpPr>
          <a:xfrm rot="0">
            <a:off x="6720297" y="1871021"/>
            <a:ext cx="4847406" cy="1221172"/>
            <a:chOff x="0" y="0"/>
            <a:chExt cx="6463208" cy="1628230"/>
          </a:xfrm>
        </p:grpSpPr>
        <p:sp>
          <p:nvSpPr>
            <p:cNvPr name="Freeform 22" id="22"/>
            <p:cNvSpPr/>
            <p:nvPr/>
          </p:nvSpPr>
          <p:spPr>
            <a:xfrm flipH="false" flipV="false" rot="0">
              <a:off x="1317721" y="0"/>
              <a:ext cx="1092636" cy="1581447"/>
            </a:xfrm>
            <a:custGeom>
              <a:avLst/>
              <a:gdLst/>
              <a:ahLst/>
              <a:cxnLst/>
              <a:rect r="r" b="b" t="t" l="l"/>
              <a:pathLst>
                <a:path h="1581447" w="1092636">
                  <a:moveTo>
                    <a:pt x="0" y="0"/>
                  </a:moveTo>
                  <a:lnTo>
                    <a:pt x="1092637" y="0"/>
                  </a:lnTo>
                  <a:lnTo>
                    <a:pt x="1092637" y="1581447"/>
                  </a:lnTo>
                  <a:lnTo>
                    <a:pt x="0" y="158144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3" id="23"/>
            <p:cNvSpPr txBox="true"/>
            <p:nvPr/>
          </p:nvSpPr>
          <p:spPr>
            <a:xfrm rot="0">
              <a:off x="2494385" y="422639"/>
              <a:ext cx="3968824" cy="1205591"/>
            </a:xfrm>
            <a:prstGeom prst="rect">
              <a:avLst/>
            </a:prstGeom>
          </p:spPr>
          <p:txBody>
            <a:bodyPr anchor="t" rtlCol="false" tIns="0" lIns="0" bIns="0" rIns="0">
              <a:spAutoFit/>
            </a:bodyPr>
            <a:lstStyle/>
            <a:p>
              <a:pPr algn="l">
                <a:lnSpc>
                  <a:spcPts val="7650"/>
                </a:lnSpc>
              </a:pPr>
              <a:r>
                <a:rPr lang="en-US" b="true" sz="5464">
                  <a:solidFill>
                    <a:srgbClr val="000000"/>
                  </a:solidFill>
                  <a:latin typeface="League Spartan"/>
                  <a:ea typeface="League Spartan"/>
                  <a:cs typeface="League Spartan"/>
                  <a:sym typeface="League Spartan"/>
                </a:rPr>
                <a:t>CKNEY</a:t>
              </a:r>
            </a:p>
          </p:txBody>
        </p:sp>
        <p:sp>
          <p:nvSpPr>
            <p:cNvPr name="TextBox 24" id="24"/>
            <p:cNvSpPr txBox="true"/>
            <p:nvPr/>
          </p:nvSpPr>
          <p:spPr>
            <a:xfrm rot="0">
              <a:off x="0" y="422639"/>
              <a:ext cx="1233695" cy="1205591"/>
            </a:xfrm>
            <a:prstGeom prst="rect">
              <a:avLst/>
            </a:prstGeom>
          </p:spPr>
          <p:txBody>
            <a:bodyPr anchor="t" rtlCol="false" tIns="0" lIns="0" bIns="0" rIns="0">
              <a:spAutoFit/>
            </a:bodyPr>
            <a:lstStyle/>
            <a:p>
              <a:pPr algn="r">
                <a:lnSpc>
                  <a:spcPts val="7650"/>
                </a:lnSpc>
              </a:pPr>
              <a:r>
                <a:rPr lang="en-US" b="true" sz="5464">
                  <a:solidFill>
                    <a:srgbClr val="000000"/>
                  </a:solidFill>
                  <a:latin typeface="League Spartan"/>
                  <a:ea typeface="League Spartan"/>
                  <a:cs typeface="League Spartan"/>
                  <a:sym typeface="League Spartan"/>
                </a:rPr>
                <a:t>H</a:t>
              </a:r>
            </a:p>
          </p:txBody>
        </p:sp>
      </p:grpSp>
      <p:sp>
        <p:nvSpPr>
          <p:cNvPr name="TextBox 25" id="25"/>
          <p:cNvSpPr txBox="true"/>
          <p:nvPr/>
        </p:nvSpPr>
        <p:spPr>
          <a:xfrm rot="0">
            <a:off x="2289555" y="6797615"/>
            <a:ext cx="1648593" cy="366500"/>
          </a:xfrm>
          <a:prstGeom prst="rect">
            <a:avLst/>
          </a:prstGeom>
        </p:spPr>
        <p:txBody>
          <a:bodyPr anchor="t" rtlCol="false" tIns="0" lIns="0" bIns="0" rIns="0">
            <a:spAutoFit/>
          </a:bodyPr>
          <a:lstStyle/>
          <a:p>
            <a:pPr algn="l">
              <a:lnSpc>
                <a:spcPts val="2899"/>
              </a:lnSpc>
              <a:spcBef>
                <a:spcPct val="0"/>
              </a:spcBef>
            </a:pPr>
            <a:r>
              <a:rPr lang="en-US" b="true" sz="2070">
                <a:solidFill>
                  <a:srgbClr val="000000"/>
                </a:solidFill>
                <a:latin typeface="Poppins Bold"/>
                <a:ea typeface="Poppins Bold"/>
                <a:cs typeface="Poppins Bold"/>
                <a:sym typeface="Poppins Bold"/>
              </a:rPr>
              <a:t>Leo Correia</a:t>
            </a:r>
          </a:p>
        </p:txBody>
      </p:sp>
      <p:sp>
        <p:nvSpPr>
          <p:cNvPr name="TextBox 26" id="26"/>
          <p:cNvSpPr txBox="true"/>
          <p:nvPr/>
        </p:nvSpPr>
        <p:spPr>
          <a:xfrm rot="0">
            <a:off x="5794460" y="6797615"/>
            <a:ext cx="2459392" cy="366500"/>
          </a:xfrm>
          <a:prstGeom prst="rect">
            <a:avLst/>
          </a:prstGeom>
        </p:spPr>
        <p:txBody>
          <a:bodyPr anchor="t" rtlCol="false" tIns="0" lIns="0" bIns="0" rIns="0">
            <a:spAutoFit/>
          </a:bodyPr>
          <a:lstStyle/>
          <a:p>
            <a:pPr algn="l">
              <a:lnSpc>
                <a:spcPts val="2899"/>
              </a:lnSpc>
              <a:spcBef>
                <a:spcPct val="0"/>
              </a:spcBef>
            </a:pPr>
            <a:r>
              <a:rPr lang="en-US" b="true" sz="2070">
                <a:solidFill>
                  <a:srgbClr val="000000"/>
                </a:solidFill>
                <a:latin typeface="Poppins Bold"/>
                <a:ea typeface="Poppins Bold"/>
                <a:cs typeface="Poppins Bold"/>
                <a:sym typeface="Poppins Bold"/>
              </a:rPr>
              <a:t>Komala Hiremath</a:t>
            </a:r>
          </a:p>
        </p:txBody>
      </p:sp>
      <p:sp>
        <p:nvSpPr>
          <p:cNvPr name="TextBox 27" id="27"/>
          <p:cNvSpPr txBox="true"/>
          <p:nvPr/>
        </p:nvSpPr>
        <p:spPr>
          <a:xfrm rot="0">
            <a:off x="9548466" y="6797615"/>
            <a:ext cx="3126658" cy="366500"/>
          </a:xfrm>
          <a:prstGeom prst="rect">
            <a:avLst/>
          </a:prstGeom>
        </p:spPr>
        <p:txBody>
          <a:bodyPr anchor="t" rtlCol="false" tIns="0" lIns="0" bIns="0" rIns="0">
            <a:spAutoFit/>
          </a:bodyPr>
          <a:lstStyle/>
          <a:p>
            <a:pPr algn="l">
              <a:lnSpc>
                <a:spcPts val="2899"/>
              </a:lnSpc>
              <a:spcBef>
                <a:spcPct val="0"/>
              </a:spcBef>
            </a:pPr>
            <a:r>
              <a:rPr lang="en-US" b="true" sz="2070">
                <a:solidFill>
                  <a:srgbClr val="000000"/>
                </a:solidFill>
                <a:latin typeface="Poppins Bold"/>
                <a:ea typeface="Poppins Bold"/>
                <a:cs typeface="Poppins Bold"/>
                <a:sym typeface="Poppins Bold"/>
              </a:rPr>
              <a:t>Shirantha Malighaspe</a:t>
            </a:r>
          </a:p>
        </p:txBody>
      </p:sp>
      <p:sp>
        <p:nvSpPr>
          <p:cNvPr name="TextBox 28" id="28"/>
          <p:cNvSpPr txBox="true"/>
          <p:nvPr/>
        </p:nvSpPr>
        <p:spPr>
          <a:xfrm rot="0">
            <a:off x="13728842" y="6797615"/>
            <a:ext cx="2953472" cy="366500"/>
          </a:xfrm>
          <a:prstGeom prst="rect">
            <a:avLst/>
          </a:prstGeom>
        </p:spPr>
        <p:txBody>
          <a:bodyPr anchor="t" rtlCol="false" tIns="0" lIns="0" bIns="0" rIns="0">
            <a:spAutoFit/>
          </a:bodyPr>
          <a:lstStyle/>
          <a:p>
            <a:pPr algn="l">
              <a:lnSpc>
                <a:spcPts val="2899"/>
              </a:lnSpc>
              <a:spcBef>
                <a:spcPct val="0"/>
              </a:spcBef>
            </a:pPr>
            <a:r>
              <a:rPr lang="en-US" b="true" sz="2070">
                <a:solidFill>
                  <a:srgbClr val="000000"/>
                </a:solidFill>
                <a:latin typeface="Poppins Bold"/>
                <a:ea typeface="Poppins Bold"/>
                <a:cs typeface="Poppins Bold"/>
                <a:sym typeface="Poppins Bold"/>
              </a:rPr>
              <a:t>Sophie Watkinson</a:t>
            </a:r>
          </a:p>
        </p:txBody>
      </p:sp>
      <p:grpSp>
        <p:nvGrpSpPr>
          <p:cNvPr name="Group 29" id="29"/>
          <p:cNvGrpSpPr/>
          <p:nvPr/>
        </p:nvGrpSpPr>
        <p:grpSpPr>
          <a:xfrm rot="0">
            <a:off x="16575662" y="9733596"/>
            <a:ext cx="1712338" cy="553404"/>
            <a:chOff x="0" y="0"/>
            <a:chExt cx="2283117" cy="737873"/>
          </a:xfrm>
        </p:grpSpPr>
        <p:sp>
          <p:nvSpPr>
            <p:cNvPr name="Freeform 30" id="30"/>
            <p:cNvSpPr/>
            <p:nvPr/>
          </p:nvSpPr>
          <p:spPr>
            <a:xfrm flipH="false" flipV="false" rot="0">
              <a:off x="378847" y="0"/>
              <a:ext cx="496720" cy="718936"/>
            </a:xfrm>
            <a:custGeom>
              <a:avLst/>
              <a:gdLst/>
              <a:ahLst/>
              <a:cxnLst/>
              <a:rect r="r" b="b" t="t" l="l"/>
              <a:pathLst>
                <a:path h="718936" w="496720">
                  <a:moveTo>
                    <a:pt x="0" y="0"/>
                  </a:moveTo>
                  <a:lnTo>
                    <a:pt x="496719" y="0"/>
                  </a:lnTo>
                  <a:lnTo>
                    <a:pt x="496719" y="718936"/>
                  </a:lnTo>
                  <a:lnTo>
                    <a:pt x="0" y="7189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31" id="31"/>
            <p:cNvSpPr txBox="true"/>
            <p:nvPr/>
          </p:nvSpPr>
          <p:spPr>
            <a:xfrm rot="0">
              <a:off x="913766" y="187811"/>
              <a:ext cx="1369352" cy="550062"/>
            </a:xfrm>
            <a:prstGeom prst="rect">
              <a:avLst/>
            </a:prstGeom>
          </p:spPr>
          <p:txBody>
            <a:bodyPr anchor="t" rtlCol="false" tIns="0" lIns="0" bIns="0" rIns="0">
              <a:spAutoFit/>
            </a:bodyPr>
            <a:lstStyle/>
            <a:p>
              <a:pPr algn="l">
                <a:lnSpc>
                  <a:spcPts val="3477"/>
                </a:lnSpc>
              </a:pPr>
              <a:r>
                <a:rPr lang="en-US" sz="2484">
                  <a:solidFill>
                    <a:srgbClr val="000000"/>
                  </a:solidFill>
                  <a:latin typeface="Roboto"/>
                  <a:ea typeface="Roboto"/>
                  <a:cs typeface="Roboto"/>
                  <a:sym typeface="Roboto"/>
                </a:rPr>
                <a:t>CKNEY</a:t>
              </a:r>
            </a:p>
          </p:txBody>
        </p:sp>
        <p:sp>
          <p:nvSpPr>
            <p:cNvPr name="TextBox 32" id="32"/>
            <p:cNvSpPr txBox="true"/>
            <p:nvPr/>
          </p:nvSpPr>
          <p:spPr>
            <a:xfrm rot="0">
              <a:off x="0" y="187811"/>
              <a:ext cx="340648" cy="550062"/>
            </a:xfrm>
            <a:prstGeom prst="rect">
              <a:avLst/>
            </a:prstGeom>
          </p:spPr>
          <p:txBody>
            <a:bodyPr anchor="t" rtlCol="false" tIns="0" lIns="0" bIns="0" rIns="0">
              <a:spAutoFit/>
            </a:bodyPr>
            <a:lstStyle/>
            <a:p>
              <a:pPr algn="r">
                <a:lnSpc>
                  <a:spcPts val="3477"/>
                </a:lnSpc>
              </a:pPr>
              <a:r>
                <a:rPr lang="en-US" sz="2484">
                  <a:solidFill>
                    <a:srgbClr val="000000"/>
                  </a:solidFill>
                  <a:latin typeface="Roboto"/>
                  <a:ea typeface="Roboto"/>
                  <a:cs typeface="Roboto"/>
                  <a:sym typeface="Roboto"/>
                </a:rPr>
                <a:t>H</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602203" y="1888394"/>
            <a:ext cx="16997329" cy="7764981"/>
            <a:chOff x="0" y="0"/>
            <a:chExt cx="4476663" cy="2045098"/>
          </a:xfrm>
        </p:grpSpPr>
        <p:sp>
          <p:nvSpPr>
            <p:cNvPr name="Freeform 3" id="3"/>
            <p:cNvSpPr/>
            <p:nvPr/>
          </p:nvSpPr>
          <p:spPr>
            <a:xfrm flipH="false" flipV="false" rot="0">
              <a:off x="0" y="0"/>
              <a:ext cx="4476663" cy="2045098"/>
            </a:xfrm>
            <a:custGeom>
              <a:avLst/>
              <a:gdLst/>
              <a:ahLst/>
              <a:cxnLst/>
              <a:rect r="r" b="b" t="t" l="l"/>
              <a:pathLst>
                <a:path h="2045098" w="4476663">
                  <a:moveTo>
                    <a:pt x="23229" y="0"/>
                  </a:moveTo>
                  <a:lnTo>
                    <a:pt x="4453433" y="0"/>
                  </a:lnTo>
                  <a:cubicBezTo>
                    <a:pt x="4466263" y="0"/>
                    <a:pt x="4476663" y="10400"/>
                    <a:pt x="4476663" y="23229"/>
                  </a:cubicBezTo>
                  <a:lnTo>
                    <a:pt x="4476663" y="2021869"/>
                  </a:lnTo>
                  <a:cubicBezTo>
                    <a:pt x="4476663" y="2028030"/>
                    <a:pt x="4474215" y="2033938"/>
                    <a:pt x="4469859" y="2038294"/>
                  </a:cubicBezTo>
                  <a:cubicBezTo>
                    <a:pt x="4465503" y="2042651"/>
                    <a:pt x="4459594" y="2045098"/>
                    <a:pt x="4453433" y="2045098"/>
                  </a:cubicBezTo>
                  <a:lnTo>
                    <a:pt x="23229" y="2045098"/>
                  </a:lnTo>
                  <a:cubicBezTo>
                    <a:pt x="17069" y="2045098"/>
                    <a:pt x="11160" y="2042651"/>
                    <a:pt x="6804" y="2038294"/>
                  </a:cubicBezTo>
                  <a:cubicBezTo>
                    <a:pt x="2447" y="2033938"/>
                    <a:pt x="0" y="2028030"/>
                    <a:pt x="0" y="2021869"/>
                  </a:cubicBezTo>
                  <a:lnTo>
                    <a:pt x="0" y="23229"/>
                  </a:lnTo>
                  <a:cubicBezTo>
                    <a:pt x="0" y="17069"/>
                    <a:pt x="2447" y="11160"/>
                    <a:pt x="6804" y="6804"/>
                  </a:cubicBezTo>
                  <a:cubicBezTo>
                    <a:pt x="11160" y="2447"/>
                    <a:pt x="17069" y="0"/>
                    <a:pt x="23229" y="0"/>
                  </a:cubicBezTo>
                  <a:close/>
                </a:path>
              </a:pathLst>
            </a:custGeom>
            <a:solidFill>
              <a:srgbClr val="5C7654"/>
            </a:solidFill>
          </p:spPr>
        </p:sp>
        <p:sp>
          <p:nvSpPr>
            <p:cNvPr name="TextBox 4" id="4"/>
            <p:cNvSpPr txBox="true"/>
            <p:nvPr/>
          </p:nvSpPr>
          <p:spPr>
            <a:xfrm>
              <a:off x="0" y="-47625"/>
              <a:ext cx="4476663" cy="2092723"/>
            </a:xfrm>
            <a:prstGeom prst="rect">
              <a:avLst/>
            </a:prstGeom>
          </p:spPr>
          <p:txBody>
            <a:bodyPr anchor="ctr" rtlCol="false" tIns="50800" lIns="50800" bIns="50800" rIns="50800"/>
            <a:lstStyle/>
            <a:p>
              <a:pPr algn="ctr">
                <a:lnSpc>
                  <a:spcPts val="3477"/>
                </a:lnSpc>
              </a:pPr>
            </a:p>
          </p:txBody>
        </p:sp>
      </p:grpSp>
      <p:sp>
        <p:nvSpPr>
          <p:cNvPr name="Freeform 5" id="5"/>
          <p:cNvSpPr/>
          <p:nvPr/>
        </p:nvSpPr>
        <p:spPr>
          <a:xfrm flipH="false" flipV="false" rot="0">
            <a:off x="1028700" y="2763186"/>
            <a:ext cx="11301259" cy="5608250"/>
          </a:xfrm>
          <a:custGeom>
            <a:avLst/>
            <a:gdLst/>
            <a:ahLst/>
            <a:cxnLst/>
            <a:rect r="r" b="b" t="t" l="l"/>
            <a:pathLst>
              <a:path h="5608250" w="11301259">
                <a:moveTo>
                  <a:pt x="0" y="0"/>
                </a:moveTo>
                <a:lnTo>
                  <a:pt x="11301259" y="0"/>
                </a:lnTo>
                <a:lnTo>
                  <a:pt x="11301259" y="5608250"/>
                </a:lnTo>
                <a:lnTo>
                  <a:pt x="0" y="5608250"/>
                </a:lnTo>
                <a:lnTo>
                  <a:pt x="0" y="0"/>
                </a:lnTo>
                <a:close/>
              </a:path>
            </a:pathLst>
          </a:custGeom>
          <a:blipFill>
            <a:blip r:embed="rId2"/>
            <a:stretch>
              <a:fillRect l="0" t="0" r="0" b="0"/>
            </a:stretch>
          </a:blipFill>
        </p:spPr>
      </p:sp>
      <p:sp>
        <p:nvSpPr>
          <p:cNvPr name="TextBox 6" id="6"/>
          <p:cNvSpPr txBox="true"/>
          <p:nvPr/>
        </p:nvSpPr>
        <p:spPr>
          <a:xfrm rot="0">
            <a:off x="12514351" y="3748470"/>
            <a:ext cx="4950332" cy="3590058"/>
          </a:xfrm>
          <a:prstGeom prst="rect">
            <a:avLst/>
          </a:prstGeom>
        </p:spPr>
        <p:txBody>
          <a:bodyPr anchor="t" rtlCol="false" tIns="0" lIns="0" bIns="0" rIns="0">
            <a:spAutoFit/>
          </a:bodyPr>
          <a:lstStyle/>
          <a:p>
            <a:pPr algn="ctr">
              <a:lnSpc>
                <a:spcPts val="3197"/>
              </a:lnSpc>
              <a:spcBef>
                <a:spcPct val="0"/>
              </a:spcBef>
            </a:pPr>
            <a:r>
              <a:rPr lang="en-US" sz="2284">
                <a:solidFill>
                  <a:srgbClr val="000000"/>
                </a:solidFill>
                <a:latin typeface="Roboto"/>
                <a:ea typeface="Roboto"/>
                <a:cs typeface="Roboto"/>
                <a:sym typeface="Roboto"/>
              </a:rPr>
              <a:t>As a team, we have chosen</a:t>
            </a:r>
            <a:r>
              <a:rPr lang="en-US" b="true" sz="2284">
                <a:solidFill>
                  <a:srgbClr val="000000"/>
                </a:solidFill>
                <a:latin typeface="Roboto Bold"/>
                <a:ea typeface="Roboto Bold"/>
                <a:cs typeface="Roboto Bold"/>
                <a:sym typeface="Roboto Bold"/>
              </a:rPr>
              <a:t> “Advise the helpdesk to monitor for more examples”</a:t>
            </a:r>
            <a:r>
              <a:rPr lang="en-US" sz="2284">
                <a:solidFill>
                  <a:srgbClr val="000000"/>
                </a:solidFill>
                <a:latin typeface="Roboto"/>
                <a:ea typeface="Roboto"/>
                <a:cs typeface="Roboto"/>
                <a:sym typeface="Roboto"/>
              </a:rPr>
              <a:t> because there is no evidence of malicious activity. To assemble a CSIRT is a bit dramatic as this stage, we don’t ignore reports, and why would you spend hours of wasted time trawling through logs with no guarantee of finding anything.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579069" y="1765515"/>
            <a:ext cx="16403131" cy="7149562"/>
            <a:chOff x="0" y="0"/>
            <a:chExt cx="4320166" cy="1883012"/>
          </a:xfrm>
        </p:grpSpPr>
        <p:sp>
          <p:nvSpPr>
            <p:cNvPr name="Freeform 3" id="3"/>
            <p:cNvSpPr/>
            <p:nvPr/>
          </p:nvSpPr>
          <p:spPr>
            <a:xfrm flipH="false" flipV="false" rot="0">
              <a:off x="0" y="0"/>
              <a:ext cx="4320166" cy="1883012"/>
            </a:xfrm>
            <a:custGeom>
              <a:avLst/>
              <a:gdLst/>
              <a:ahLst/>
              <a:cxnLst/>
              <a:rect r="r" b="b" t="t" l="l"/>
              <a:pathLst>
                <a:path h="1883012" w="4320166">
                  <a:moveTo>
                    <a:pt x="24071" y="0"/>
                  </a:moveTo>
                  <a:lnTo>
                    <a:pt x="4296095" y="0"/>
                  </a:lnTo>
                  <a:cubicBezTo>
                    <a:pt x="4309389" y="0"/>
                    <a:pt x="4320166" y="10777"/>
                    <a:pt x="4320166" y="24071"/>
                  </a:cubicBezTo>
                  <a:lnTo>
                    <a:pt x="4320166" y="1858941"/>
                  </a:lnTo>
                  <a:cubicBezTo>
                    <a:pt x="4320166" y="1865325"/>
                    <a:pt x="4317630" y="1871448"/>
                    <a:pt x="4313116" y="1875962"/>
                  </a:cubicBezTo>
                  <a:cubicBezTo>
                    <a:pt x="4308602" y="1880476"/>
                    <a:pt x="4302479" y="1883012"/>
                    <a:pt x="4296095" y="1883012"/>
                  </a:cubicBezTo>
                  <a:lnTo>
                    <a:pt x="24071" y="1883012"/>
                  </a:lnTo>
                  <a:cubicBezTo>
                    <a:pt x="10777" y="1883012"/>
                    <a:pt x="0" y="1872235"/>
                    <a:pt x="0" y="1858941"/>
                  </a:cubicBezTo>
                  <a:lnTo>
                    <a:pt x="0" y="24071"/>
                  </a:lnTo>
                  <a:cubicBezTo>
                    <a:pt x="0" y="17687"/>
                    <a:pt x="2536" y="11564"/>
                    <a:pt x="7050" y="7050"/>
                  </a:cubicBezTo>
                  <a:cubicBezTo>
                    <a:pt x="11564" y="2536"/>
                    <a:pt x="17687" y="0"/>
                    <a:pt x="24071" y="0"/>
                  </a:cubicBezTo>
                  <a:close/>
                </a:path>
              </a:pathLst>
            </a:custGeom>
            <a:solidFill>
              <a:srgbClr val="5C7654"/>
            </a:solidFill>
          </p:spPr>
        </p:sp>
        <p:sp>
          <p:nvSpPr>
            <p:cNvPr name="TextBox 4" id="4"/>
            <p:cNvSpPr txBox="true"/>
            <p:nvPr/>
          </p:nvSpPr>
          <p:spPr>
            <a:xfrm>
              <a:off x="0" y="-47625"/>
              <a:ext cx="4320166" cy="1930637"/>
            </a:xfrm>
            <a:prstGeom prst="rect">
              <a:avLst/>
            </a:prstGeom>
          </p:spPr>
          <p:txBody>
            <a:bodyPr anchor="ctr" rtlCol="false" tIns="50800" lIns="50800" bIns="50800" rIns="50800"/>
            <a:lstStyle/>
            <a:p>
              <a:pPr algn="ctr">
                <a:lnSpc>
                  <a:spcPts val="3477"/>
                </a:lnSpc>
              </a:pPr>
            </a:p>
          </p:txBody>
        </p:sp>
      </p:grpSp>
      <p:sp>
        <p:nvSpPr>
          <p:cNvPr name="Freeform 5" id="5"/>
          <p:cNvSpPr/>
          <p:nvPr/>
        </p:nvSpPr>
        <p:spPr>
          <a:xfrm flipH="false" flipV="false" rot="0">
            <a:off x="1028700" y="2862058"/>
            <a:ext cx="11301259" cy="4562883"/>
          </a:xfrm>
          <a:custGeom>
            <a:avLst/>
            <a:gdLst/>
            <a:ahLst/>
            <a:cxnLst/>
            <a:rect r="r" b="b" t="t" l="l"/>
            <a:pathLst>
              <a:path h="4562883" w="11301259">
                <a:moveTo>
                  <a:pt x="0" y="0"/>
                </a:moveTo>
                <a:lnTo>
                  <a:pt x="11301259" y="0"/>
                </a:lnTo>
                <a:lnTo>
                  <a:pt x="11301259" y="4562884"/>
                </a:lnTo>
                <a:lnTo>
                  <a:pt x="0" y="4562884"/>
                </a:lnTo>
                <a:lnTo>
                  <a:pt x="0" y="0"/>
                </a:lnTo>
                <a:close/>
              </a:path>
            </a:pathLst>
          </a:custGeom>
          <a:blipFill>
            <a:blip r:embed="rId2"/>
            <a:stretch>
              <a:fillRect l="0" t="0" r="0" b="0"/>
            </a:stretch>
          </a:blipFill>
        </p:spPr>
      </p:sp>
      <p:sp>
        <p:nvSpPr>
          <p:cNvPr name="TextBox 6" id="6"/>
          <p:cNvSpPr txBox="true"/>
          <p:nvPr/>
        </p:nvSpPr>
        <p:spPr>
          <a:xfrm rot="0">
            <a:off x="12684860" y="4124706"/>
            <a:ext cx="3850759" cy="1989963"/>
          </a:xfrm>
          <a:prstGeom prst="rect">
            <a:avLst/>
          </a:prstGeom>
        </p:spPr>
        <p:txBody>
          <a:bodyPr anchor="t" rtlCol="false" tIns="0" lIns="0" bIns="0" rIns="0">
            <a:spAutoFit/>
          </a:bodyPr>
          <a:lstStyle/>
          <a:p>
            <a:pPr algn="ctr">
              <a:lnSpc>
                <a:spcPts val="3191"/>
              </a:lnSpc>
              <a:spcBef>
                <a:spcPct val="0"/>
              </a:spcBef>
            </a:pPr>
            <a:r>
              <a:rPr lang="en-US" sz="2279">
                <a:solidFill>
                  <a:srgbClr val="000000"/>
                </a:solidFill>
                <a:latin typeface="Roboto"/>
                <a:ea typeface="Roboto"/>
                <a:cs typeface="Roboto"/>
                <a:sym typeface="Roboto"/>
              </a:rPr>
              <a:t>Assemble the CSIRT is the only valid option as we have more reports of users impacted, which needs to be escalated.</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602203" y="1888394"/>
            <a:ext cx="16997329" cy="7764981"/>
            <a:chOff x="0" y="0"/>
            <a:chExt cx="4476663" cy="2045098"/>
          </a:xfrm>
        </p:grpSpPr>
        <p:sp>
          <p:nvSpPr>
            <p:cNvPr name="Freeform 3" id="3"/>
            <p:cNvSpPr/>
            <p:nvPr/>
          </p:nvSpPr>
          <p:spPr>
            <a:xfrm flipH="false" flipV="false" rot="0">
              <a:off x="0" y="0"/>
              <a:ext cx="4476663" cy="2045098"/>
            </a:xfrm>
            <a:custGeom>
              <a:avLst/>
              <a:gdLst/>
              <a:ahLst/>
              <a:cxnLst/>
              <a:rect r="r" b="b" t="t" l="l"/>
              <a:pathLst>
                <a:path h="2045098" w="4476663">
                  <a:moveTo>
                    <a:pt x="23229" y="0"/>
                  </a:moveTo>
                  <a:lnTo>
                    <a:pt x="4453433" y="0"/>
                  </a:lnTo>
                  <a:cubicBezTo>
                    <a:pt x="4466263" y="0"/>
                    <a:pt x="4476663" y="10400"/>
                    <a:pt x="4476663" y="23229"/>
                  </a:cubicBezTo>
                  <a:lnTo>
                    <a:pt x="4476663" y="2021869"/>
                  </a:lnTo>
                  <a:cubicBezTo>
                    <a:pt x="4476663" y="2028030"/>
                    <a:pt x="4474215" y="2033938"/>
                    <a:pt x="4469859" y="2038294"/>
                  </a:cubicBezTo>
                  <a:cubicBezTo>
                    <a:pt x="4465503" y="2042651"/>
                    <a:pt x="4459594" y="2045098"/>
                    <a:pt x="4453433" y="2045098"/>
                  </a:cubicBezTo>
                  <a:lnTo>
                    <a:pt x="23229" y="2045098"/>
                  </a:lnTo>
                  <a:cubicBezTo>
                    <a:pt x="17069" y="2045098"/>
                    <a:pt x="11160" y="2042651"/>
                    <a:pt x="6804" y="2038294"/>
                  </a:cubicBezTo>
                  <a:cubicBezTo>
                    <a:pt x="2447" y="2033938"/>
                    <a:pt x="0" y="2028030"/>
                    <a:pt x="0" y="2021869"/>
                  </a:cubicBezTo>
                  <a:lnTo>
                    <a:pt x="0" y="23229"/>
                  </a:lnTo>
                  <a:cubicBezTo>
                    <a:pt x="0" y="17069"/>
                    <a:pt x="2447" y="11160"/>
                    <a:pt x="6804" y="6804"/>
                  </a:cubicBezTo>
                  <a:cubicBezTo>
                    <a:pt x="11160" y="2447"/>
                    <a:pt x="17069" y="0"/>
                    <a:pt x="23229" y="0"/>
                  </a:cubicBezTo>
                  <a:close/>
                </a:path>
              </a:pathLst>
            </a:custGeom>
            <a:solidFill>
              <a:srgbClr val="5C7654"/>
            </a:solidFill>
          </p:spPr>
        </p:sp>
        <p:sp>
          <p:nvSpPr>
            <p:cNvPr name="TextBox 4" id="4"/>
            <p:cNvSpPr txBox="true"/>
            <p:nvPr/>
          </p:nvSpPr>
          <p:spPr>
            <a:xfrm>
              <a:off x="0" y="-47625"/>
              <a:ext cx="4476663" cy="2092723"/>
            </a:xfrm>
            <a:prstGeom prst="rect">
              <a:avLst/>
            </a:prstGeom>
          </p:spPr>
          <p:txBody>
            <a:bodyPr anchor="ctr" rtlCol="false" tIns="50800" lIns="50800" bIns="50800" rIns="50800"/>
            <a:lstStyle/>
            <a:p>
              <a:pPr algn="ctr">
                <a:lnSpc>
                  <a:spcPts val="3477"/>
                </a:lnSpc>
              </a:pPr>
            </a:p>
          </p:txBody>
        </p:sp>
      </p:grpSp>
      <p:grpSp>
        <p:nvGrpSpPr>
          <p:cNvPr name="Group 5" id="5"/>
          <p:cNvGrpSpPr/>
          <p:nvPr/>
        </p:nvGrpSpPr>
        <p:grpSpPr>
          <a:xfrm rot="0">
            <a:off x="754603" y="2040794"/>
            <a:ext cx="16997329" cy="7764981"/>
            <a:chOff x="0" y="0"/>
            <a:chExt cx="4476663" cy="2045098"/>
          </a:xfrm>
        </p:grpSpPr>
        <p:sp>
          <p:nvSpPr>
            <p:cNvPr name="Freeform 6" id="6"/>
            <p:cNvSpPr/>
            <p:nvPr/>
          </p:nvSpPr>
          <p:spPr>
            <a:xfrm flipH="false" flipV="false" rot="0">
              <a:off x="0" y="0"/>
              <a:ext cx="4476663" cy="2045098"/>
            </a:xfrm>
            <a:custGeom>
              <a:avLst/>
              <a:gdLst/>
              <a:ahLst/>
              <a:cxnLst/>
              <a:rect r="r" b="b" t="t" l="l"/>
              <a:pathLst>
                <a:path h="2045098" w="4476663">
                  <a:moveTo>
                    <a:pt x="23229" y="0"/>
                  </a:moveTo>
                  <a:lnTo>
                    <a:pt x="4453433" y="0"/>
                  </a:lnTo>
                  <a:cubicBezTo>
                    <a:pt x="4466263" y="0"/>
                    <a:pt x="4476663" y="10400"/>
                    <a:pt x="4476663" y="23229"/>
                  </a:cubicBezTo>
                  <a:lnTo>
                    <a:pt x="4476663" y="2021869"/>
                  </a:lnTo>
                  <a:cubicBezTo>
                    <a:pt x="4476663" y="2028030"/>
                    <a:pt x="4474215" y="2033938"/>
                    <a:pt x="4469859" y="2038294"/>
                  </a:cubicBezTo>
                  <a:cubicBezTo>
                    <a:pt x="4465503" y="2042651"/>
                    <a:pt x="4459594" y="2045098"/>
                    <a:pt x="4453433" y="2045098"/>
                  </a:cubicBezTo>
                  <a:lnTo>
                    <a:pt x="23229" y="2045098"/>
                  </a:lnTo>
                  <a:cubicBezTo>
                    <a:pt x="17069" y="2045098"/>
                    <a:pt x="11160" y="2042651"/>
                    <a:pt x="6804" y="2038294"/>
                  </a:cubicBezTo>
                  <a:cubicBezTo>
                    <a:pt x="2447" y="2033938"/>
                    <a:pt x="0" y="2028030"/>
                    <a:pt x="0" y="2021869"/>
                  </a:cubicBezTo>
                  <a:lnTo>
                    <a:pt x="0" y="23229"/>
                  </a:lnTo>
                  <a:cubicBezTo>
                    <a:pt x="0" y="17069"/>
                    <a:pt x="2447" y="11160"/>
                    <a:pt x="6804" y="6804"/>
                  </a:cubicBezTo>
                  <a:cubicBezTo>
                    <a:pt x="11160" y="2447"/>
                    <a:pt x="17069" y="0"/>
                    <a:pt x="23229" y="0"/>
                  </a:cubicBezTo>
                  <a:close/>
                </a:path>
              </a:pathLst>
            </a:custGeom>
            <a:solidFill>
              <a:srgbClr val="5C7654"/>
            </a:solidFill>
          </p:spPr>
        </p:sp>
        <p:sp>
          <p:nvSpPr>
            <p:cNvPr name="TextBox 7" id="7"/>
            <p:cNvSpPr txBox="true"/>
            <p:nvPr/>
          </p:nvSpPr>
          <p:spPr>
            <a:xfrm>
              <a:off x="0" y="-47625"/>
              <a:ext cx="4476663" cy="2092723"/>
            </a:xfrm>
            <a:prstGeom prst="rect">
              <a:avLst/>
            </a:prstGeom>
          </p:spPr>
          <p:txBody>
            <a:bodyPr anchor="ctr" rtlCol="false" tIns="50800" lIns="50800" bIns="50800" rIns="50800"/>
            <a:lstStyle/>
            <a:p>
              <a:pPr algn="ctr">
                <a:lnSpc>
                  <a:spcPts val="3477"/>
                </a:lnSpc>
              </a:pPr>
            </a:p>
          </p:txBody>
        </p:sp>
      </p:grpSp>
      <p:sp>
        <p:nvSpPr>
          <p:cNvPr name="Freeform 8" id="8"/>
          <p:cNvSpPr/>
          <p:nvPr/>
        </p:nvSpPr>
        <p:spPr>
          <a:xfrm flipH="false" flipV="false" rot="0">
            <a:off x="1293904" y="3408754"/>
            <a:ext cx="11301259" cy="5029060"/>
          </a:xfrm>
          <a:custGeom>
            <a:avLst/>
            <a:gdLst/>
            <a:ahLst/>
            <a:cxnLst/>
            <a:rect r="r" b="b" t="t" l="l"/>
            <a:pathLst>
              <a:path h="5029060" w="11301259">
                <a:moveTo>
                  <a:pt x="0" y="0"/>
                </a:moveTo>
                <a:lnTo>
                  <a:pt x="11301259" y="0"/>
                </a:lnTo>
                <a:lnTo>
                  <a:pt x="11301259" y="5029061"/>
                </a:lnTo>
                <a:lnTo>
                  <a:pt x="0" y="5029061"/>
                </a:lnTo>
                <a:lnTo>
                  <a:pt x="0" y="0"/>
                </a:lnTo>
                <a:close/>
              </a:path>
            </a:pathLst>
          </a:custGeom>
          <a:blipFill>
            <a:blip r:embed="rId2"/>
            <a:stretch>
              <a:fillRect l="0" t="0" r="0" b="0"/>
            </a:stretch>
          </a:blipFill>
        </p:spPr>
      </p:sp>
      <p:sp>
        <p:nvSpPr>
          <p:cNvPr name="TextBox 9" id="9"/>
          <p:cNvSpPr txBox="true"/>
          <p:nvPr/>
        </p:nvSpPr>
        <p:spPr>
          <a:xfrm rot="0">
            <a:off x="12730013" y="4904490"/>
            <a:ext cx="4664137" cy="1989963"/>
          </a:xfrm>
          <a:prstGeom prst="rect">
            <a:avLst/>
          </a:prstGeom>
        </p:spPr>
        <p:txBody>
          <a:bodyPr anchor="t" rtlCol="false" tIns="0" lIns="0" bIns="0" rIns="0">
            <a:spAutoFit/>
          </a:bodyPr>
          <a:lstStyle/>
          <a:p>
            <a:pPr algn="ctr">
              <a:lnSpc>
                <a:spcPts val="3191"/>
              </a:lnSpc>
              <a:spcBef>
                <a:spcPct val="0"/>
              </a:spcBef>
            </a:pPr>
            <a:r>
              <a:rPr lang="en-US" sz="2279">
                <a:solidFill>
                  <a:srgbClr val="000000"/>
                </a:solidFill>
                <a:latin typeface="Roboto"/>
                <a:ea typeface="Roboto"/>
                <a:cs typeface="Roboto"/>
                <a:sym typeface="Roboto"/>
              </a:rPr>
              <a:t>We have decided to use a </a:t>
            </a:r>
            <a:r>
              <a:rPr lang="en-US" b="true" sz="2279">
                <a:solidFill>
                  <a:srgbClr val="000000"/>
                </a:solidFill>
                <a:latin typeface="Roboto Bold"/>
                <a:ea typeface="Roboto Bold"/>
                <a:cs typeface="Roboto Bold"/>
                <a:sym typeface="Roboto Bold"/>
              </a:rPr>
              <a:t>SIEM to detect the malicious activity</a:t>
            </a:r>
            <a:r>
              <a:rPr lang="en-US" sz="2279">
                <a:solidFill>
                  <a:srgbClr val="000000"/>
                </a:solidFill>
                <a:latin typeface="Roboto"/>
                <a:ea typeface="Roboto"/>
                <a:cs typeface="Roboto"/>
                <a:sym typeface="Roboto"/>
              </a:rPr>
              <a:t> as it collects all logs of end point detection/WAF into a centralised dashboard.</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645335" y="1888394"/>
            <a:ext cx="16997329" cy="7764981"/>
            <a:chOff x="0" y="0"/>
            <a:chExt cx="4476663" cy="2045098"/>
          </a:xfrm>
        </p:grpSpPr>
        <p:sp>
          <p:nvSpPr>
            <p:cNvPr name="Freeform 3" id="3"/>
            <p:cNvSpPr/>
            <p:nvPr/>
          </p:nvSpPr>
          <p:spPr>
            <a:xfrm flipH="false" flipV="false" rot="0">
              <a:off x="0" y="0"/>
              <a:ext cx="4476663" cy="2045098"/>
            </a:xfrm>
            <a:custGeom>
              <a:avLst/>
              <a:gdLst/>
              <a:ahLst/>
              <a:cxnLst/>
              <a:rect r="r" b="b" t="t" l="l"/>
              <a:pathLst>
                <a:path h="2045098" w="4476663">
                  <a:moveTo>
                    <a:pt x="23229" y="0"/>
                  </a:moveTo>
                  <a:lnTo>
                    <a:pt x="4453433" y="0"/>
                  </a:lnTo>
                  <a:cubicBezTo>
                    <a:pt x="4466263" y="0"/>
                    <a:pt x="4476663" y="10400"/>
                    <a:pt x="4476663" y="23229"/>
                  </a:cubicBezTo>
                  <a:lnTo>
                    <a:pt x="4476663" y="2021869"/>
                  </a:lnTo>
                  <a:cubicBezTo>
                    <a:pt x="4476663" y="2028030"/>
                    <a:pt x="4474215" y="2033938"/>
                    <a:pt x="4469859" y="2038294"/>
                  </a:cubicBezTo>
                  <a:cubicBezTo>
                    <a:pt x="4465503" y="2042651"/>
                    <a:pt x="4459594" y="2045098"/>
                    <a:pt x="4453433" y="2045098"/>
                  </a:cubicBezTo>
                  <a:lnTo>
                    <a:pt x="23229" y="2045098"/>
                  </a:lnTo>
                  <a:cubicBezTo>
                    <a:pt x="17069" y="2045098"/>
                    <a:pt x="11160" y="2042651"/>
                    <a:pt x="6804" y="2038294"/>
                  </a:cubicBezTo>
                  <a:cubicBezTo>
                    <a:pt x="2447" y="2033938"/>
                    <a:pt x="0" y="2028030"/>
                    <a:pt x="0" y="2021869"/>
                  </a:cubicBezTo>
                  <a:lnTo>
                    <a:pt x="0" y="23229"/>
                  </a:lnTo>
                  <a:cubicBezTo>
                    <a:pt x="0" y="17069"/>
                    <a:pt x="2447" y="11160"/>
                    <a:pt x="6804" y="6804"/>
                  </a:cubicBezTo>
                  <a:cubicBezTo>
                    <a:pt x="11160" y="2447"/>
                    <a:pt x="17069" y="0"/>
                    <a:pt x="23229" y="0"/>
                  </a:cubicBezTo>
                  <a:close/>
                </a:path>
              </a:pathLst>
            </a:custGeom>
            <a:solidFill>
              <a:srgbClr val="5C7654"/>
            </a:solidFill>
          </p:spPr>
        </p:sp>
        <p:sp>
          <p:nvSpPr>
            <p:cNvPr name="TextBox 4" id="4"/>
            <p:cNvSpPr txBox="true"/>
            <p:nvPr/>
          </p:nvSpPr>
          <p:spPr>
            <a:xfrm>
              <a:off x="0" y="-47625"/>
              <a:ext cx="4476663" cy="2092723"/>
            </a:xfrm>
            <a:prstGeom prst="rect">
              <a:avLst/>
            </a:prstGeom>
          </p:spPr>
          <p:txBody>
            <a:bodyPr anchor="ctr" rtlCol="false" tIns="50800" lIns="50800" bIns="50800" rIns="50800"/>
            <a:lstStyle/>
            <a:p>
              <a:pPr algn="ctr">
                <a:lnSpc>
                  <a:spcPts val="3477"/>
                </a:lnSpc>
              </a:pPr>
            </a:p>
          </p:txBody>
        </p:sp>
      </p:grpSp>
      <p:sp>
        <p:nvSpPr>
          <p:cNvPr name="Freeform 5" id="5"/>
          <p:cNvSpPr/>
          <p:nvPr/>
        </p:nvSpPr>
        <p:spPr>
          <a:xfrm flipH="false" flipV="false" rot="0">
            <a:off x="1028700" y="2281138"/>
            <a:ext cx="11301259" cy="6342832"/>
          </a:xfrm>
          <a:custGeom>
            <a:avLst/>
            <a:gdLst/>
            <a:ahLst/>
            <a:cxnLst/>
            <a:rect r="r" b="b" t="t" l="l"/>
            <a:pathLst>
              <a:path h="6342832" w="11301259">
                <a:moveTo>
                  <a:pt x="0" y="0"/>
                </a:moveTo>
                <a:lnTo>
                  <a:pt x="11301259" y="0"/>
                </a:lnTo>
                <a:lnTo>
                  <a:pt x="11301259" y="6342832"/>
                </a:lnTo>
                <a:lnTo>
                  <a:pt x="0" y="6342832"/>
                </a:lnTo>
                <a:lnTo>
                  <a:pt x="0" y="0"/>
                </a:lnTo>
                <a:close/>
              </a:path>
            </a:pathLst>
          </a:custGeom>
          <a:blipFill>
            <a:blip r:embed="rId2"/>
            <a:stretch>
              <a:fillRect l="0" t="0" r="0" b="0"/>
            </a:stretch>
          </a:blipFill>
        </p:spPr>
      </p:sp>
      <p:sp>
        <p:nvSpPr>
          <p:cNvPr name="TextBox 6" id="6"/>
          <p:cNvSpPr txBox="true"/>
          <p:nvPr/>
        </p:nvSpPr>
        <p:spPr>
          <a:xfrm rot="0">
            <a:off x="12594862" y="2375040"/>
            <a:ext cx="4801707" cy="6639455"/>
          </a:xfrm>
          <a:prstGeom prst="rect">
            <a:avLst/>
          </a:prstGeom>
        </p:spPr>
        <p:txBody>
          <a:bodyPr anchor="t" rtlCol="false" tIns="0" lIns="0" bIns="0" rIns="0">
            <a:spAutoFit/>
          </a:bodyPr>
          <a:lstStyle/>
          <a:p>
            <a:pPr algn="ctr">
              <a:lnSpc>
                <a:spcPts val="3120"/>
              </a:lnSpc>
            </a:pPr>
            <a:r>
              <a:rPr lang="en-US" sz="2229">
                <a:solidFill>
                  <a:srgbClr val="000000"/>
                </a:solidFill>
                <a:latin typeface="Roboto"/>
                <a:ea typeface="Roboto"/>
                <a:cs typeface="Roboto"/>
                <a:sym typeface="Roboto"/>
              </a:rPr>
              <a:t> WAF monitors the application layer. We have chosen to </a:t>
            </a:r>
            <a:r>
              <a:rPr lang="en-US" sz="2229" b="true">
                <a:solidFill>
                  <a:srgbClr val="000000"/>
                </a:solidFill>
                <a:latin typeface="Roboto Bold"/>
                <a:ea typeface="Roboto Bold"/>
                <a:cs typeface="Roboto Bold"/>
                <a:sym typeface="Roboto Bold"/>
              </a:rPr>
              <a:t>block all traffic with the attackers user agent</a:t>
            </a:r>
            <a:r>
              <a:rPr lang="en-US" sz="2229">
                <a:solidFill>
                  <a:srgbClr val="000000"/>
                </a:solidFill>
                <a:latin typeface="Roboto"/>
                <a:ea typeface="Roboto"/>
                <a:cs typeface="Roboto"/>
                <a:sym typeface="Roboto"/>
              </a:rPr>
              <a:t> because the IP addresses are able to change frequently, meaning our mitigations are useless in this scenario. Onboarding a 3</a:t>
            </a:r>
            <a:r>
              <a:rPr lang="en-US" sz="2229">
                <a:solidFill>
                  <a:srgbClr val="000000"/>
                </a:solidFill>
                <a:latin typeface="Roboto"/>
                <a:ea typeface="Roboto"/>
                <a:cs typeface="Roboto"/>
                <a:sym typeface="Roboto"/>
              </a:rPr>
              <a:t>rd</a:t>
            </a:r>
            <a:r>
              <a:rPr lang="en-US" sz="2229">
                <a:solidFill>
                  <a:srgbClr val="000000"/>
                </a:solidFill>
                <a:latin typeface="Roboto"/>
                <a:ea typeface="Roboto"/>
                <a:cs typeface="Roboto"/>
                <a:sym typeface="Roboto"/>
              </a:rPr>
              <a:t> party is costly and will take weeks to implement.</a:t>
            </a:r>
          </a:p>
          <a:p>
            <a:pPr algn="ctr">
              <a:lnSpc>
                <a:spcPts val="3120"/>
              </a:lnSpc>
            </a:pPr>
          </a:p>
          <a:p>
            <a:pPr algn="ctr">
              <a:lnSpc>
                <a:spcPts val="3120"/>
              </a:lnSpc>
              <a:spcBef>
                <a:spcPct val="0"/>
              </a:spcBef>
            </a:pPr>
            <a:r>
              <a:rPr lang="en-US" b="true" sz="2229">
                <a:solidFill>
                  <a:srgbClr val="000000"/>
                </a:solidFill>
                <a:latin typeface="Roboto Bold"/>
                <a:ea typeface="Roboto Bold"/>
                <a:cs typeface="Roboto Bold"/>
                <a:sym typeface="Roboto Bold"/>
              </a:rPr>
              <a:t>An Attacker User Agent is a distinctive User-Agent HTTP header string sent to perform malicious activities.  Attackers will often manipulate this string to blend in with legitimate traffic or to evade detection by security systems.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602203" y="1888394"/>
            <a:ext cx="16997329" cy="7764981"/>
            <a:chOff x="0" y="0"/>
            <a:chExt cx="4476663" cy="2045098"/>
          </a:xfrm>
        </p:grpSpPr>
        <p:sp>
          <p:nvSpPr>
            <p:cNvPr name="Freeform 3" id="3"/>
            <p:cNvSpPr/>
            <p:nvPr/>
          </p:nvSpPr>
          <p:spPr>
            <a:xfrm flipH="false" flipV="false" rot="0">
              <a:off x="0" y="0"/>
              <a:ext cx="4476663" cy="2045098"/>
            </a:xfrm>
            <a:custGeom>
              <a:avLst/>
              <a:gdLst/>
              <a:ahLst/>
              <a:cxnLst/>
              <a:rect r="r" b="b" t="t" l="l"/>
              <a:pathLst>
                <a:path h="2045098" w="4476663">
                  <a:moveTo>
                    <a:pt x="23229" y="0"/>
                  </a:moveTo>
                  <a:lnTo>
                    <a:pt x="4453433" y="0"/>
                  </a:lnTo>
                  <a:cubicBezTo>
                    <a:pt x="4466263" y="0"/>
                    <a:pt x="4476663" y="10400"/>
                    <a:pt x="4476663" y="23229"/>
                  </a:cubicBezTo>
                  <a:lnTo>
                    <a:pt x="4476663" y="2021869"/>
                  </a:lnTo>
                  <a:cubicBezTo>
                    <a:pt x="4476663" y="2028030"/>
                    <a:pt x="4474215" y="2033938"/>
                    <a:pt x="4469859" y="2038294"/>
                  </a:cubicBezTo>
                  <a:cubicBezTo>
                    <a:pt x="4465503" y="2042651"/>
                    <a:pt x="4459594" y="2045098"/>
                    <a:pt x="4453433" y="2045098"/>
                  </a:cubicBezTo>
                  <a:lnTo>
                    <a:pt x="23229" y="2045098"/>
                  </a:lnTo>
                  <a:cubicBezTo>
                    <a:pt x="17069" y="2045098"/>
                    <a:pt x="11160" y="2042651"/>
                    <a:pt x="6804" y="2038294"/>
                  </a:cubicBezTo>
                  <a:cubicBezTo>
                    <a:pt x="2447" y="2033938"/>
                    <a:pt x="0" y="2028030"/>
                    <a:pt x="0" y="2021869"/>
                  </a:cubicBezTo>
                  <a:lnTo>
                    <a:pt x="0" y="23229"/>
                  </a:lnTo>
                  <a:cubicBezTo>
                    <a:pt x="0" y="17069"/>
                    <a:pt x="2447" y="11160"/>
                    <a:pt x="6804" y="6804"/>
                  </a:cubicBezTo>
                  <a:cubicBezTo>
                    <a:pt x="11160" y="2447"/>
                    <a:pt x="17069" y="0"/>
                    <a:pt x="23229" y="0"/>
                  </a:cubicBezTo>
                  <a:close/>
                </a:path>
              </a:pathLst>
            </a:custGeom>
            <a:solidFill>
              <a:srgbClr val="5C7654"/>
            </a:solidFill>
          </p:spPr>
        </p:sp>
        <p:sp>
          <p:nvSpPr>
            <p:cNvPr name="TextBox 4" id="4"/>
            <p:cNvSpPr txBox="true"/>
            <p:nvPr/>
          </p:nvSpPr>
          <p:spPr>
            <a:xfrm>
              <a:off x="0" y="-47625"/>
              <a:ext cx="4476663" cy="2092723"/>
            </a:xfrm>
            <a:prstGeom prst="rect">
              <a:avLst/>
            </a:prstGeom>
          </p:spPr>
          <p:txBody>
            <a:bodyPr anchor="ctr" rtlCol="false" tIns="50800" lIns="50800" bIns="50800" rIns="50800"/>
            <a:lstStyle/>
            <a:p>
              <a:pPr algn="ctr">
                <a:lnSpc>
                  <a:spcPts val="3477"/>
                </a:lnSpc>
              </a:pPr>
            </a:p>
          </p:txBody>
        </p:sp>
      </p:grpSp>
      <p:grpSp>
        <p:nvGrpSpPr>
          <p:cNvPr name="Group 5" id="5"/>
          <p:cNvGrpSpPr/>
          <p:nvPr/>
        </p:nvGrpSpPr>
        <p:grpSpPr>
          <a:xfrm rot="0">
            <a:off x="754603" y="2040794"/>
            <a:ext cx="16997329" cy="7764981"/>
            <a:chOff x="0" y="0"/>
            <a:chExt cx="4476663" cy="2045098"/>
          </a:xfrm>
        </p:grpSpPr>
        <p:sp>
          <p:nvSpPr>
            <p:cNvPr name="Freeform 6" id="6"/>
            <p:cNvSpPr/>
            <p:nvPr/>
          </p:nvSpPr>
          <p:spPr>
            <a:xfrm flipH="false" flipV="false" rot="0">
              <a:off x="0" y="0"/>
              <a:ext cx="4476663" cy="2045098"/>
            </a:xfrm>
            <a:custGeom>
              <a:avLst/>
              <a:gdLst/>
              <a:ahLst/>
              <a:cxnLst/>
              <a:rect r="r" b="b" t="t" l="l"/>
              <a:pathLst>
                <a:path h="2045098" w="4476663">
                  <a:moveTo>
                    <a:pt x="23229" y="0"/>
                  </a:moveTo>
                  <a:lnTo>
                    <a:pt x="4453433" y="0"/>
                  </a:lnTo>
                  <a:cubicBezTo>
                    <a:pt x="4466263" y="0"/>
                    <a:pt x="4476663" y="10400"/>
                    <a:pt x="4476663" y="23229"/>
                  </a:cubicBezTo>
                  <a:lnTo>
                    <a:pt x="4476663" y="2021869"/>
                  </a:lnTo>
                  <a:cubicBezTo>
                    <a:pt x="4476663" y="2028030"/>
                    <a:pt x="4474215" y="2033938"/>
                    <a:pt x="4469859" y="2038294"/>
                  </a:cubicBezTo>
                  <a:cubicBezTo>
                    <a:pt x="4465503" y="2042651"/>
                    <a:pt x="4459594" y="2045098"/>
                    <a:pt x="4453433" y="2045098"/>
                  </a:cubicBezTo>
                  <a:lnTo>
                    <a:pt x="23229" y="2045098"/>
                  </a:lnTo>
                  <a:cubicBezTo>
                    <a:pt x="17069" y="2045098"/>
                    <a:pt x="11160" y="2042651"/>
                    <a:pt x="6804" y="2038294"/>
                  </a:cubicBezTo>
                  <a:cubicBezTo>
                    <a:pt x="2447" y="2033938"/>
                    <a:pt x="0" y="2028030"/>
                    <a:pt x="0" y="2021869"/>
                  </a:cubicBezTo>
                  <a:lnTo>
                    <a:pt x="0" y="23229"/>
                  </a:lnTo>
                  <a:cubicBezTo>
                    <a:pt x="0" y="17069"/>
                    <a:pt x="2447" y="11160"/>
                    <a:pt x="6804" y="6804"/>
                  </a:cubicBezTo>
                  <a:cubicBezTo>
                    <a:pt x="11160" y="2447"/>
                    <a:pt x="17069" y="0"/>
                    <a:pt x="23229" y="0"/>
                  </a:cubicBezTo>
                  <a:close/>
                </a:path>
              </a:pathLst>
            </a:custGeom>
            <a:solidFill>
              <a:srgbClr val="5C7654"/>
            </a:solidFill>
          </p:spPr>
        </p:sp>
        <p:sp>
          <p:nvSpPr>
            <p:cNvPr name="TextBox 7" id="7"/>
            <p:cNvSpPr txBox="true"/>
            <p:nvPr/>
          </p:nvSpPr>
          <p:spPr>
            <a:xfrm>
              <a:off x="0" y="-47625"/>
              <a:ext cx="4476663" cy="2092723"/>
            </a:xfrm>
            <a:prstGeom prst="rect">
              <a:avLst/>
            </a:prstGeom>
          </p:spPr>
          <p:txBody>
            <a:bodyPr anchor="ctr" rtlCol="false" tIns="50800" lIns="50800" bIns="50800" rIns="50800"/>
            <a:lstStyle/>
            <a:p>
              <a:pPr algn="ctr">
                <a:lnSpc>
                  <a:spcPts val="3477"/>
                </a:lnSpc>
              </a:pPr>
            </a:p>
          </p:txBody>
        </p:sp>
      </p:grpSp>
      <p:sp>
        <p:nvSpPr>
          <p:cNvPr name="Freeform 8" id="8"/>
          <p:cNvSpPr/>
          <p:nvPr/>
        </p:nvSpPr>
        <p:spPr>
          <a:xfrm flipH="false" flipV="false" rot="0">
            <a:off x="1028700" y="2698355"/>
            <a:ext cx="11301259" cy="6145060"/>
          </a:xfrm>
          <a:custGeom>
            <a:avLst/>
            <a:gdLst/>
            <a:ahLst/>
            <a:cxnLst/>
            <a:rect r="r" b="b" t="t" l="l"/>
            <a:pathLst>
              <a:path h="6145060" w="11301259">
                <a:moveTo>
                  <a:pt x="0" y="0"/>
                </a:moveTo>
                <a:lnTo>
                  <a:pt x="11301259" y="0"/>
                </a:lnTo>
                <a:lnTo>
                  <a:pt x="11301259" y="6145059"/>
                </a:lnTo>
                <a:lnTo>
                  <a:pt x="0" y="6145059"/>
                </a:lnTo>
                <a:lnTo>
                  <a:pt x="0" y="0"/>
                </a:lnTo>
                <a:close/>
              </a:path>
            </a:pathLst>
          </a:custGeom>
          <a:blipFill>
            <a:blip r:embed="rId2"/>
            <a:stretch>
              <a:fillRect l="0" t="0" r="0" b="0"/>
            </a:stretch>
          </a:blipFill>
        </p:spPr>
      </p:sp>
      <p:sp>
        <p:nvSpPr>
          <p:cNvPr name="TextBox 9" id="9"/>
          <p:cNvSpPr txBox="true"/>
          <p:nvPr/>
        </p:nvSpPr>
        <p:spPr>
          <a:xfrm rot="0">
            <a:off x="12552517" y="4152015"/>
            <a:ext cx="4899424" cy="3190113"/>
          </a:xfrm>
          <a:prstGeom prst="rect">
            <a:avLst/>
          </a:prstGeom>
        </p:spPr>
        <p:txBody>
          <a:bodyPr anchor="t" rtlCol="false" tIns="0" lIns="0" bIns="0" rIns="0">
            <a:spAutoFit/>
          </a:bodyPr>
          <a:lstStyle/>
          <a:p>
            <a:pPr algn="ctr">
              <a:lnSpc>
                <a:spcPts val="3191"/>
              </a:lnSpc>
            </a:pPr>
            <a:r>
              <a:rPr lang="en-US" sz="2279">
                <a:solidFill>
                  <a:srgbClr val="000000"/>
                </a:solidFill>
                <a:latin typeface="Roboto"/>
                <a:ea typeface="Roboto"/>
                <a:cs typeface="Roboto"/>
                <a:sym typeface="Roboto"/>
              </a:rPr>
              <a:t>We have chosen to</a:t>
            </a:r>
            <a:r>
              <a:rPr lang="en-US" sz="2279" b="true">
                <a:solidFill>
                  <a:srgbClr val="000000"/>
                </a:solidFill>
                <a:latin typeface="Roboto Bold"/>
                <a:ea typeface="Roboto Bold"/>
                <a:cs typeface="Roboto Bold"/>
                <a:sym typeface="Roboto Bold"/>
              </a:rPr>
              <a:t> Respond to the Board</a:t>
            </a:r>
            <a:r>
              <a:rPr lang="en-US" sz="2279">
                <a:solidFill>
                  <a:srgbClr val="000000"/>
                </a:solidFill>
                <a:latin typeface="Roboto"/>
                <a:ea typeface="Roboto"/>
                <a:cs typeface="Roboto"/>
                <a:sym typeface="Roboto"/>
              </a:rPr>
              <a:t>, as we need to liaise with stakeholders and senior management before anyone else.</a:t>
            </a:r>
          </a:p>
          <a:p>
            <a:pPr algn="ctr">
              <a:lnSpc>
                <a:spcPts val="3191"/>
              </a:lnSpc>
            </a:pPr>
          </a:p>
          <a:p>
            <a:pPr algn="ctr">
              <a:lnSpc>
                <a:spcPts val="3191"/>
              </a:lnSpc>
              <a:spcBef>
                <a:spcPct val="0"/>
              </a:spcBef>
            </a:pPr>
            <a:r>
              <a:rPr lang="en-US" sz="2279">
                <a:solidFill>
                  <a:srgbClr val="000000"/>
                </a:solidFill>
                <a:latin typeface="Roboto"/>
                <a:ea typeface="Roboto"/>
                <a:cs typeface="Roboto"/>
                <a:sym typeface="Roboto"/>
              </a:rPr>
              <a:t> We do not respond to media or public unless we have a board approved statement.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602203" y="1888394"/>
            <a:ext cx="16997329" cy="7764981"/>
            <a:chOff x="0" y="0"/>
            <a:chExt cx="4476663" cy="2045098"/>
          </a:xfrm>
        </p:grpSpPr>
        <p:sp>
          <p:nvSpPr>
            <p:cNvPr name="Freeform 3" id="3"/>
            <p:cNvSpPr/>
            <p:nvPr/>
          </p:nvSpPr>
          <p:spPr>
            <a:xfrm flipH="false" flipV="false" rot="0">
              <a:off x="0" y="0"/>
              <a:ext cx="4476663" cy="2045098"/>
            </a:xfrm>
            <a:custGeom>
              <a:avLst/>
              <a:gdLst/>
              <a:ahLst/>
              <a:cxnLst/>
              <a:rect r="r" b="b" t="t" l="l"/>
              <a:pathLst>
                <a:path h="2045098" w="4476663">
                  <a:moveTo>
                    <a:pt x="23229" y="0"/>
                  </a:moveTo>
                  <a:lnTo>
                    <a:pt x="4453433" y="0"/>
                  </a:lnTo>
                  <a:cubicBezTo>
                    <a:pt x="4466263" y="0"/>
                    <a:pt x="4476663" y="10400"/>
                    <a:pt x="4476663" y="23229"/>
                  </a:cubicBezTo>
                  <a:lnTo>
                    <a:pt x="4476663" y="2021869"/>
                  </a:lnTo>
                  <a:cubicBezTo>
                    <a:pt x="4476663" y="2028030"/>
                    <a:pt x="4474215" y="2033938"/>
                    <a:pt x="4469859" y="2038294"/>
                  </a:cubicBezTo>
                  <a:cubicBezTo>
                    <a:pt x="4465503" y="2042651"/>
                    <a:pt x="4459594" y="2045098"/>
                    <a:pt x="4453433" y="2045098"/>
                  </a:cubicBezTo>
                  <a:lnTo>
                    <a:pt x="23229" y="2045098"/>
                  </a:lnTo>
                  <a:cubicBezTo>
                    <a:pt x="17069" y="2045098"/>
                    <a:pt x="11160" y="2042651"/>
                    <a:pt x="6804" y="2038294"/>
                  </a:cubicBezTo>
                  <a:cubicBezTo>
                    <a:pt x="2447" y="2033938"/>
                    <a:pt x="0" y="2028030"/>
                    <a:pt x="0" y="2021869"/>
                  </a:cubicBezTo>
                  <a:lnTo>
                    <a:pt x="0" y="23229"/>
                  </a:lnTo>
                  <a:cubicBezTo>
                    <a:pt x="0" y="17069"/>
                    <a:pt x="2447" y="11160"/>
                    <a:pt x="6804" y="6804"/>
                  </a:cubicBezTo>
                  <a:cubicBezTo>
                    <a:pt x="11160" y="2447"/>
                    <a:pt x="17069" y="0"/>
                    <a:pt x="23229" y="0"/>
                  </a:cubicBezTo>
                  <a:close/>
                </a:path>
              </a:pathLst>
            </a:custGeom>
            <a:solidFill>
              <a:srgbClr val="5C7654"/>
            </a:solidFill>
          </p:spPr>
        </p:sp>
        <p:sp>
          <p:nvSpPr>
            <p:cNvPr name="TextBox 4" id="4"/>
            <p:cNvSpPr txBox="true"/>
            <p:nvPr/>
          </p:nvSpPr>
          <p:spPr>
            <a:xfrm>
              <a:off x="0" y="-47625"/>
              <a:ext cx="4476663" cy="2092723"/>
            </a:xfrm>
            <a:prstGeom prst="rect">
              <a:avLst/>
            </a:prstGeom>
          </p:spPr>
          <p:txBody>
            <a:bodyPr anchor="ctr" rtlCol="false" tIns="50800" lIns="50800" bIns="50800" rIns="50800"/>
            <a:lstStyle/>
            <a:p>
              <a:pPr algn="ctr">
                <a:lnSpc>
                  <a:spcPts val="3477"/>
                </a:lnSpc>
              </a:pPr>
            </a:p>
          </p:txBody>
        </p:sp>
      </p:grpSp>
      <p:grpSp>
        <p:nvGrpSpPr>
          <p:cNvPr name="Group 5" id="5"/>
          <p:cNvGrpSpPr/>
          <p:nvPr/>
        </p:nvGrpSpPr>
        <p:grpSpPr>
          <a:xfrm rot="0">
            <a:off x="754603" y="2040794"/>
            <a:ext cx="16997329" cy="7764981"/>
            <a:chOff x="0" y="0"/>
            <a:chExt cx="4476663" cy="2045098"/>
          </a:xfrm>
        </p:grpSpPr>
        <p:sp>
          <p:nvSpPr>
            <p:cNvPr name="Freeform 6" id="6"/>
            <p:cNvSpPr/>
            <p:nvPr/>
          </p:nvSpPr>
          <p:spPr>
            <a:xfrm flipH="false" flipV="false" rot="0">
              <a:off x="0" y="0"/>
              <a:ext cx="4476663" cy="2045098"/>
            </a:xfrm>
            <a:custGeom>
              <a:avLst/>
              <a:gdLst/>
              <a:ahLst/>
              <a:cxnLst/>
              <a:rect r="r" b="b" t="t" l="l"/>
              <a:pathLst>
                <a:path h="2045098" w="4476663">
                  <a:moveTo>
                    <a:pt x="23229" y="0"/>
                  </a:moveTo>
                  <a:lnTo>
                    <a:pt x="4453433" y="0"/>
                  </a:lnTo>
                  <a:cubicBezTo>
                    <a:pt x="4466263" y="0"/>
                    <a:pt x="4476663" y="10400"/>
                    <a:pt x="4476663" y="23229"/>
                  </a:cubicBezTo>
                  <a:lnTo>
                    <a:pt x="4476663" y="2021869"/>
                  </a:lnTo>
                  <a:cubicBezTo>
                    <a:pt x="4476663" y="2028030"/>
                    <a:pt x="4474215" y="2033938"/>
                    <a:pt x="4469859" y="2038294"/>
                  </a:cubicBezTo>
                  <a:cubicBezTo>
                    <a:pt x="4465503" y="2042651"/>
                    <a:pt x="4459594" y="2045098"/>
                    <a:pt x="4453433" y="2045098"/>
                  </a:cubicBezTo>
                  <a:lnTo>
                    <a:pt x="23229" y="2045098"/>
                  </a:lnTo>
                  <a:cubicBezTo>
                    <a:pt x="17069" y="2045098"/>
                    <a:pt x="11160" y="2042651"/>
                    <a:pt x="6804" y="2038294"/>
                  </a:cubicBezTo>
                  <a:cubicBezTo>
                    <a:pt x="2447" y="2033938"/>
                    <a:pt x="0" y="2028030"/>
                    <a:pt x="0" y="2021869"/>
                  </a:cubicBezTo>
                  <a:lnTo>
                    <a:pt x="0" y="23229"/>
                  </a:lnTo>
                  <a:cubicBezTo>
                    <a:pt x="0" y="17069"/>
                    <a:pt x="2447" y="11160"/>
                    <a:pt x="6804" y="6804"/>
                  </a:cubicBezTo>
                  <a:cubicBezTo>
                    <a:pt x="11160" y="2447"/>
                    <a:pt x="17069" y="0"/>
                    <a:pt x="23229" y="0"/>
                  </a:cubicBezTo>
                  <a:close/>
                </a:path>
              </a:pathLst>
            </a:custGeom>
            <a:solidFill>
              <a:srgbClr val="5C7654"/>
            </a:solidFill>
          </p:spPr>
        </p:sp>
        <p:sp>
          <p:nvSpPr>
            <p:cNvPr name="TextBox 7" id="7"/>
            <p:cNvSpPr txBox="true"/>
            <p:nvPr/>
          </p:nvSpPr>
          <p:spPr>
            <a:xfrm>
              <a:off x="0" y="-47625"/>
              <a:ext cx="4476663" cy="2092723"/>
            </a:xfrm>
            <a:prstGeom prst="rect">
              <a:avLst/>
            </a:prstGeom>
          </p:spPr>
          <p:txBody>
            <a:bodyPr anchor="ctr" rtlCol="false" tIns="50800" lIns="50800" bIns="50800" rIns="50800"/>
            <a:lstStyle/>
            <a:p>
              <a:pPr algn="ctr">
                <a:lnSpc>
                  <a:spcPts val="3477"/>
                </a:lnSpc>
              </a:pPr>
            </a:p>
          </p:txBody>
        </p:sp>
      </p:grpSp>
      <p:sp>
        <p:nvSpPr>
          <p:cNvPr name="Freeform 8" id="8"/>
          <p:cNvSpPr/>
          <p:nvPr/>
        </p:nvSpPr>
        <p:spPr>
          <a:xfrm flipH="false" flipV="false" rot="0">
            <a:off x="1028700" y="3192785"/>
            <a:ext cx="11301259" cy="5156199"/>
          </a:xfrm>
          <a:custGeom>
            <a:avLst/>
            <a:gdLst/>
            <a:ahLst/>
            <a:cxnLst/>
            <a:rect r="r" b="b" t="t" l="l"/>
            <a:pathLst>
              <a:path h="5156199" w="11301259">
                <a:moveTo>
                  <a:pt x="0" y="0"/>
                </a:moveTo>
                <a:lnTo>
                  <a:pt x="11301259" y="0"/>
                </a:lnTo>
                <a:lnTo>
                  <a:pt x="11301259" y="5156199"/>
                </a:lnTo>
                <a:lnTo>
                  <a:pt x="0" y="5156199"/>
                </a:lnTo>
                <a:lnTo>
                  <a:pt x="0" y="0"/>
                </a:lnTo>
                <a:close/>
              </a:path>
            </a:pathLst>
          </a:custGeom>
          <a:blipFill>
            <a:blip r:embed="rId2"/>
            <a:stretch>
              <a:fillRect l="0" t="0" r="0" b="0"/>
            </a:stretch>
          </a:blipFill>
        </p:spPr>
      </p:sp>
      <p:sp>
        <p:nvSpPr>
          <p:cNvPr name="TextBox 9" id="9"/>
          <p:cNvSpPr txBox="true"/>
          <p:nvPr/>
        </p:nvSpPr>
        <p:spPr>
          <a:xfrm rot="0">
            <a:off x="12697530" y="4152015"/>
            <a:ext cx="4561770" cy="3190113"/>
          </a:xfrm>
          <a:prstGeom prst="rect">
            <a:avLst/>
          </a:prstGeom>
        </p:spPr>
        <p:txBody>
          <a:bodyPr anchor="t" rtlCol="false" tIns="0" lIns="0" bIns="0" rIns="0">
            <a:spAutoFit/>
          </a:bodyPr>
          <a:lstStyle/>
          <a:p>
            <a:pPr algn="ctr">
              <a:lnSpc>
                <a:spcPts val="3191"/>
              </a:lnSpc>
              <a:spcBef>
                <a:spcPct val="0"/>
              </a:spcBef>
            </a:pPr>
            <a:r>
              <a:rPr lang="en-US" sz="2279">
                <a:solidFill>
                  <a:srgbClr val="000000"/>
                </a:solidFill>
                <a:latin typeface="Roboto"/>
                <a:ea typeface="Roboto"/>
                <a:cs typeface="Roboto"/>
                <a:sym typeface="Roboto"/>
              </a:rPr>
              <a:t>We have chosen to</a:t>
            </a:r>
            <a:r>
              <a:rPr lang="en-US" b="true" sz="2279">
                <a:solidFill>
                  <a:srgbClr val="000000"/>
                </a:solidFill>
                <a:latin typeface="Roboto Bold"/>
                <a:ea typeface="Roboto Bold"/>
                <a:cs typeface="Roboto Bold"/>
                <a:sym typeface="Roboto Bold"/>
              </a:rPr>
              <a:t> Release a Holding Statement</a:t>
            </a:r>
            <a:r>
              <a:rPr lang="en-US" sz="2279">
                <a:solidFill>
                  <a:srgbClr val="000000"/>
                </a:solidFill>
                <a:latin typeface="Roboto"/>
                <a:ea typeface="Roboto"/>
                <a:cs typeface="Roboto"/>
                <a:sym typeface="Roboto"/>
              </a:rPr>
              <a:t> to buy ourselves some time, because the media and public will have difficult questions, but a holding statement is reassuring that we have things under control while we continue to figure things out.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602203" y="1888394"/>
            <a:ext cx="16997329" cy="7764981"/>
            <a:chOff x="0" y="0"/>
            <a:chExt cx="4476663" cy="2045098"/>
          </a:xfrm>
        </p:grpSpPr>
        <p:sp>
          <p:nvSpPr>
            <p:cNvPr name="Freeform 3" id="3"/>
            <p:cNvSpPr/>
            <p:nvPr/>
          </p:nvSpPr>
          <p:spPr>
            <a:xfrm flipH="false" flipV="false" rot="0">
              <a:off x="0" y="0"/>
              <a:ext cx="4476663" cy="2045098"/>
            </a:xfrm>
            <a:custGeom>
              <a:avLst/>
              <a:gdLst/>
              <a:ahLst/>
              <a:cxnLst/>
              <a:rect r="r" b="b" t="t" l="l"/>
              <a:pathLst>
                <a:path h="2045098" w="4476663">
                  <a:moveTo>
                    <a:pt x="23229" y="0"/>
                  </a:moveTo>
                  <a:lnTo>
                    <a:pt x="4453433" y="0"/>
                  </a:lnTo>
                  <a:cubicBezTo>
                    <a:pt x="4466263" y="0"/>
                    <a:pt x="4476663" y="10400"/>
                    <a:pt x="4476663" y="23229"/>
                  </a:cubicBezTo>
                  <a:lnTo>
                    <a:pt x="4476663" y="2021869"/>
                  </a:lnTo>
                  <a:cubicBezTo>
                    <a:pt x="4476663" y="2028030"/>
                    <a:pt x="4474215" y="2033938"/>
                    <a:pt x="4469859" y="2038294"/>
                  </a:cubicBezTo>
                  <a:cubicBezTo>
                    <a:pt x="4465503" y="2042651"/>
                    <a:pt x="4459594" y="2045098"/>
                    <a:pt x="4453433" y="2045098"/>
                  </a:cubicBezTo>
                  <a:lnTo>
                    <a:pt x="23229" y="2045098"/>
                  </a:lnTo>
                  <a:cubicBezTo>
                    <a:pt x="17069" y="2045098"/>
                    <a:pt x="11160" y="2042651"/>
                    <a:pt x="6804" y="2038294"/>
                  </a:cubicBezTo>
                  <a:cubicBezTo>
                    <a:pt x="2447" y="2033938"/>
                    <a:pt x="0" y="2028030"/>
                    <a:pt x="0" y="2021869"/>
                  </a:cubicBezTo>
                  <a:lnTo>
                    <a:pt x="0" y="23229"/>
                  </a:lnTo>
                  <a:cubicBezTo>
                    <a:pt x="0" y="17069"/>
                    <a:pt x="2447" y="11160"/>
                    <a:pt x="6804" y="6804"/>
                  </a:cubicBezTo>
                  <a:cubicBezTo>
                    <a:pt x="11160" y="2447"/>
                    <a:pt x="17069" y="0"/>
                    <a:pt x="23229" y="0"/>
                  </a:cubicBezTo>
                  <a:close/>
                </a:path>
              </a:pathLst>
            </a:custGeom>
            <a:solidFill>
              <a:srgbClr val="5C7654"/>
            </a:solidFill>
          </p:spPr>
        </p:sp>
        <p:sp>
          <p:nvSpPr>
            <p:cNvPr name="TextBox 4" id="4"/>
            <p:cNvSpPr txBox="true"/>
            <p:nvPr/>
          </p:nvSpPr>
          <p:spPr>
            <a:xfrm>
              <a:off x="0" y="-47625"/>
              <a:ext cx="4476663" cy="2092723"/>
            </a:xfrm>
            <a:prstGeom prst="rect">
              <a:avLst/>
            </a:prstGeom>
          </p:spPr>
          <p:txBody>
            <a:bodyPr anchor="ctr" rtlCol="false" tIns="50800" lIns="50800" bIns="50800" rIns="50800"/>
            <a:lstStyle/>
            <a:p>
              <a:pPr algn="ctr">
                <a:lnSpc>
                  <a:spcPts val="3477"/>
                </a:lnSpc>
              </a:pPr>
            </a:p>
          </p:txBody>
        </p:sp>
      </p:grpSp>
      <p:grpSp>
        <p:nvGrpSpPr>
          <p:cNvPr name="Group 5" id="5"/>
          <p:cNvGrpSpPr/>
          <p:nvPr/>
        </p:nvGrpSpPr>
        <p:grpSpPr>
          <a:xfrm rot="0">
            <a:off x="754603" y="2040794"/>
            <a:ext cx="16997329" cy="7764981"/>
            <a:chOff x="0" y="0"/>
            <a:chExt cx="4476663" cy="2045098"/>
          </a:xfrm>
        </p:grpSpPr>
        <p:sp>
          <p:nvSpPr>
            <p:cNvPr name="Freeform 6" id="6"/>
            <p:cNvSpPr/>
            <p:nvPr/>
          </p:nvSpPr>
          <p:spPr>
            <a:xfrm flipH="false" flipV="false" rot="0">
              <a:off x="0" y="0"/>
              <a:ext cx="4476663" cy="2045098"/>
            </a:xfrm>
            <a:custGeom>
              <a:avLst/>
              <a:gdLst/>
              <a:ahLst/>
              <a:cxnLst/>
              <a:rect r="r" b="b" t="t" l="l"/>
              <a:pathLst>
                <a:path h="2045098" w="4476663">
                  <a:moveTo>
                    <a:pt x="23229" y="0"/>
                  </a:moveTo>
                  <a:lnTo>
                    <a:pt x="4453433" y="0"/>
                  </a:lnTo>
                  <a:cubicBezTo>
                    <a:pt x="4466263" y="0"/>
                    <a:pt x="4476663" y="10400"/>
                    <a:pt x="4476663" y="23229"/>
                  </a:cubicBezTo>
                  <a:lnTo>
                    <a:pt x="4476663" y="2021869"/>
                  </a:lnTo>
                  <a:cubicBezTo>
                    <a:pt x="4476663" y="2028030"/>
                    <a:pt x="4474215" y="2033938"/>
                    <a:pt x="4469859" y="2038294"/>
                  </a:cubicBezTo>
                  <a:cubicBezTo>
                    <a:pt x="4465503" y="2042651"/>
                    <a:pt x="4459594" y="2045098"/>
                    <a:pt x="4453433" y="2045098"/>
                  </a:cubicBezTo>
                  <a:lnTo>
                    <a:pt x="23229" y="2045098"/>
                  </a:lnTo>
                  <a:cubicBezTo>
                    <a:pt x="17069" y="2045098"/>
                    <a:pt x="11160" y="2042651"/>
                    <a:pt x="6804" y="2038294"/>
                  </a:cubicBezTo>
                  <a:cubicBezTo>
                    <a:pt x="2447" y="2033938"/>
                    <a:pt x="0" y="2028030"/>
                    <a:pt x="0" y="2021869"/>
                  </a:cubicBezTo>
                  <a:lnTo>
                    <a:pt x="0" y="23229"/>
                  </a:lnTo>
                  <a:cubicBezTo>
                    <a:pt x="0" y="17069"/>
                    <a:pt x="2447" y="11160"/>
                    <a:pt x="6804" y="6804"/>
                  </a:cubicBezTo>
                  <a:cubicBezTo>
                    <a:pt x="11160" y="2447"/>
                    <a:pt x="17069" y="0"/>
                    <a:pt x="23229" y="0"/>
                  </a:cubicBezTo>
                  <a:close/>
                </a:path>
              </a:pathLst>
            </a:custGeom>
            <a:solidFill>
              <a:srgbClr val="5C7654"/>
            </a:solidFill>
          </p:spPr>
        </p:sp>
        <p:sp>
          <p:nvSpPr>
            <p:cNvPr name="TextBox 7" id="7"/>
            <p:cNvSpPr txBox="true"/>
            <p:nvPr/>
          </p:nvSpPr>
          <p:spPr>
            <a:xfrm>
              <a:off x="0" y="-47625"/>
              <a:ext cx="4476663" cy="2092723"/>
            </a:xfrm>
            <a:prstGeom prst="rect">
              <a:avLst/>
            </a:prstGeom>
          </p:spPr>
          <p:txBody>
            <a:bodyPr anchor="ctr" rtlCol="false" tIns="50800" lIns="50800" bIns="50800" rIns="50800"/>
            <a:lstStyle/>
            <a:p>
              <a:pPr algn="ctr">
                <a:lnSpc>
                  <a:spcPts val="3477"/>
                </a:lnSpc>
              </a:pPr>
            </a:p>
          </p:txBody>
        </p:sp>
      </p:grpSp>
      <p:sp>
        <p:nvSpPr>
          <p:cNvPr name="Freeform 8" id="8"/>
          <p:cNvSpPr/>
          <p:nvPr/>
        </p:nvSpPr>
        <p:spPr>
          <a:xfrm flipH="false" flipV="false" rot="0">
            <a:off x="1028700" y="3468253"/>
            <a:ext cx="11301259" cy="4605263"/>
          </a:xfrm>
          <a:custGeom>
            <a:avLst/>
            <a:gdLst/>
            <a:ahLst/>
            <a:cxnLst/>
            <a:rect r="r" b="b" t="t" l="l"/>
            <a:pathLst>
              <a:path h="4605263" w="11301259">
                <a:moveTo>
                  <a:pt x="0" y="0"/>
                </a:moveTo>
                <a:lnTo>
                  <a:pt x="11301259" y="0"/>
                </a:lnTo>
                <a:lnTo>
                  <a:pt x="11301259" y="4605263"/>
                </a:lnTo>
                <a:lnTo>
                  <a:pt x="0" y="4605263"/>
                </a:lnTo>
                <a:lnTo>
                  <a:pt x="0" y="0"/>
                </a:lnTo>
                <a:close/>
              </a:path>
            </a:pathLst>
          </a:custGeom>
          <a:blipFill>
            <a:blip r:embed="rId2"/>
            <a:stretch>
              <a:fillRect l="0" t="0" r="0" b="0"/>
            </a:stretch>
          </a:blipFill>
        </p:spPr>
      </p:sp>
      <p:sp>
        <p:nvSpPr>
          <p:cNvPr name="TextBox 9" id="9"/>
          <p:cNvSpPr txBox="true"/>
          <p:nvPr/>
        </p:nvSpPr>
        <p:spPr>
          <a:xfrm rot="0">
            <a:off x="12719208" y="4504440"/>
            <a:ext cx="3756847" cy="2790063"/>
          </a:xfrm>
          <a:prstGeom prst="rect">
            <a:avLst/>
          </a:prstGeom>
        </p:spPr>
        <p:txBody>
          <a:bodyPr anchor="t" rtlCol="false" tIns="0" lIns="0" bIns="0" rIns="0">
            <a:spAutoFit/>
          </a:bodyPr>
          <a:lstStyle/>
          <a:p>
            <a:pPr algn="ctr">
              <a:lnSpc>
                <a:spcPts val="3191"/>
              </a:lnSpc>
              <a:spcBef>
                <a:spcPct val="0"/>
              </a:spcBef>
            </a:pPr>
            <a:r>
              <a:rPr lang="en-US" sz="2279">
                <a:solidFill>
                  <a:srgbClr val="000000"/>
                </a:solidFill>
                <a:latin typeface="Roboto"/>
                <a:ea typeface="Roboto"/>
                <a:cs typeface="Roboto"/>
                <a:sym typeface="Roboto"/>
              </a:rPr>
              <a:t>The investigation  has shown it is an insider threat and the crisis is averted for now.  The media and the public have factual information and no one can spread damaging rumours. </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TextBox 2" id="2"/>
          <p:cNvSpPr txBox="true"/>
          <p:nvPr/>
        </p:nvSpPr>
        <p:spPr>
          <a:xfrm rot="0">
            <a:off x="6043037" y="3305615"/>
            <a:ext cx="6201927" cy="2526049"/>
          </a:xfrm>
          <a:prstGeom prst="rect">
            <a:avLst/>
          </a:prstGeom>
        </p:spPr>
        <p:txBody>
          <a:bodyPr anchor="t" rtlCol="false" tIns="0" lIns="0" bIns="0" rIns="0">
            <a:spAutoFit/>
          </a:bodyPr>
          <a:lstStyle/>
          <a:p>
            <a:pPr algn="ctr">
              <a:lnSpc>
                <a:spcPts val="6510"/>
              </a:lnSpc>
            </a:pPr>
            <a:r>
              <a:rPr lang="en-US" b="true" sz="7000">
                <a:solidFill>
                  <a:srgbClr val="000000"/>
                </a:solidFill>
                <a:latin typeface="League Spartan"/>
                <a:ea typeface="League Spartan"/>
                <a:cs typeface="League Spartan"/>
                <a:sym typeface="League Spartan"/>
              </a:rPr>
              <a:t>THANK YOU FOR YOUR ATTENTION</a:t>
            </a:r>
          </a:p>
        </p:txBody>
      </p:sp>
      <p:sp>
        <p:nvSpPr>
          <p:cNvPr name="TextBox 3" id="3"/>
          <p:cNvSpPr txBox="true"/>
          <p:nvPr/>
        </p:nvSpPr>
        <p:spPr>
          <a:xfrm rot="0">
            <a:off x="7139066" y="5687218"/>
            <a:ext cx="4231094" cy="508105"/>
          </a:xfrm>
          <a:prstGeom prst="rect">
            <a:avLst/>
          </a:prstGeom>
        </p:spPr>
        <p:txBody>
          <a:bodyPr anchor="t" rtlCol="false" tIns="0" lIns="0" bIns="0" rIns="0">
            <a:spAutoFit/>
          </a:bodyPr>
          <a:lstStyle/>
          <a:p>
            <a:pPr algn="ctr">
              <a:lnSpc>
                <a:spcPts val="4019"/>
              </a:lnSpc>
              <a:spcBef>
                <a:spcPct val="0"/>
              </a:spcBef>
            </a:pPr>
            <a:r>
              <a:rPr lang="en-US" sz="2870">
                <a:solidFill>
                  <a:srgbClr val="000000"/>
                </a:solidFill>
                <a:latin typeface="Poppins"/>
                <a:ea typeface="Poppins"/>
                <a:cs typeface="Poppins"/>
                <a:sym typeface="Poppins"/>
              </a:rPr>
              <a:t>Get In Touch With Us</a:t>
            </a:r>
          </a:p>
        </p:txBody>
      </p:sp>
      <p:grpSp>
        <p:nvGrpSpPr>
          <p:cNvPr name="Group 4" id="4"/>
          <p:cNvGrpSpPr/>
          <p:nvPr/>
        </p:nvGrpSpPr>
        <p:grpSpPr>
          <a:xfrm rot="0">
            <a:off x="16575662" y="9733596"/>
            <a:ext cx="1712338" cy="553404"/>
            <a:chOff x="0" y="0"/>
            <a:chExt cx="2283117" cy="737873"/>
          </a:xfrm>
        </p:grpSpPr>
        <p:sp>
          <p:nvSpPr>
            <p:cNvPr name="Freeform 5" id="5"/>
            <p:cNvSpPr/>
            <p:nvPr/>
          </p:nvSpPr>
          <p:spPr>
            <a:xfrm flipH="false" flipV="false" rot="0">
              <a:off x="378847" y="0"/>
              <a:ext cx="496720" cy="718936"/>
            </a:xfrm>
            <a:custGeom>
              <a:avLst/>
              <a:gdLst/>
              <a:ahLst/>
              <a:cxnLst/>
              <a:rect r="r" b="b" t="t" l="l"/>
              <a:pathLst>
                <a:path h="718936" w="496720">
                  <a:moveTo>
                    <a:pt x="0" y="0"/>
                  </a:moveTo>
                  <a:lnTo>
                    <a:pt x="496719" y="0"/>
                  </a:lnTo>
                  <a:lnTo>
                    <a:pt x="496719" y="718936"/>
                  </a:lnTo>
                  <a:lnTo>
                    <a:pt x="0" y="7189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913766" y="187811"/>
              <a:ext cx="1369352" cy="550062"/>
            </a:xfrm>
            <a:prstGeom prst="rect">
              <a:avLst/>
            </a:prstGeom>
          </p:spPr>
          <p:txBody>
            <a:bodyPr anchor="t" rtlCol="false" tIns="0" lIns="0" bIns="0" rIns="0">
              <a:spAutoFit/>
            </a:bodyPr>
            <a:lstStyle/>
            <a:p>
              <a:pPr algn="l">
                <a:lnSpc>
                  <a:spcPts val="3477"/>
                </a:lnSpc>
              </a:pPr>
              <a:r>
                <a:rPr lang="en-US" sz="2484">
                  <a:solidFill>
                    <a:srgbClr val="000000"/>
                  </a:solidFill>
                  <a:latin typeface="Roboto"/>
                  <a:ea typeface="Roboto"/>
                  <a:cs typeface="Roboto"/>
                  <a:sym typeface="Roboto"/>
                </a:rPr>
                <a:t>CKNEY</a:t>
              </a:r>
            </a:p>
          </p:txBody>
        </p:sp>
        <p:sp>
          <p:nvSpPr>
            <p:cNvPr name="TextBox 7" id="7"/>
            <p:cNvSpPr txBox="true"/>
            <p:nvPr/>
          </p:nvSpPr>
          <p:spPr>
            <a:xfrm rot="0">
              <a:off x="0" y="187811"/>
              <a:ext cx="340648" cy="550062"/>
            </a:xfrm>
            <a:prstGeom prst="rect">
              <a:avLst/>
            </a:prstGeom>
          </p:spPr>
          <p:txBody>
            <a:bodyPr anchor="t" rtlCol="false" tIns="0" lIns="0" bIns="0" rIns="0">
              <a:spAutoFit/>
            </a:bodyPr>
            <a:lstStyle/>
            <a:p>
              <a:pPr algn="r">
                <a:lnSpc>
                  <a:spcPts val="3477"/>
                </a:lnSpc>
              </a:pPr>
              <a:r>
                <a:rPr lang="en-US" sz="2484">
                  <a:solidFill>
                    <a:srgbClr val="000000"/>
                  </a:solidFill>
                  <a:latin typeface="Roboto"/>
                  <a:ea typeface="Roboto"/>
                  <a:cs typeface="Roboto"/>
                  <a:sym typeface="Roboto"/>
                </a:rPr>
                <a:t>H</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DAG6S4VJ0rg</dc:identifier>
  <dcterms:modified xsi:type="dcterms:W3CDTF">2011-08-01T06:04:30Z</dcterms:modified>
  <cp:revision>1</cp:revision>
  <dc:title>Incident Response </dc:title>
</cp:coreProperties>
</file>